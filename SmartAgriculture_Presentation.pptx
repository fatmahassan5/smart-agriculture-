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72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0972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the audience. Introduce the project name, the course (NTI Advanced Data Analysis), the supervisor, and the three team members and their roles. Set expectations: this is an end-to-end project from raw data to a deployed AI tool.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agenda quickly so the audience knows the structure: problem, data, EDA, dashboard, model, deployment, and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real-world problem: farming decisions are often made without solid data backing. State the objective clearly: we built a full pipeline that ends in a usable AI tool, not just a report.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dataset: ~19,572 records, 16 columns, sourced from Kaggle. Briefly describe the four feature groups: soil chemistry, climate, farming context, and inputs/outcome.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the five-stage pipeline and who owned each stage. Emphasize this was a genuinely collaborative, end-to-end project — not siloed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cleaning process in plain terms: checked for missing values and duplicates, used the IQR method to flag outliers in numeric columns, and encoded categorical fields so they could be used in modeling.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three key patterns found during EDA: the rainfall threshold, the optimal temperature range, and the fertilizer diminishing-returns trend. Note these came from actual analysis of the dataset, not assumptions.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 the scale of the data (15bn total production, 30 states, 55 crops) and call out Maharashtra, Karnataka and Tamil Nadu as production leaders, with Sugarcane and Rice as leading crops.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Power BI dashboard as the storytelling layer for non-technical audiences. Walk through the Overview page: KPIs, map, and time trend.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Environmental Impact and Crop Performance pages side by side. Point out how filters let a user drill into any state, crop, season, or year interactively.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dashboard's own insights page and connect it back to the three EDA findings from earlier — crop strategy, climate impact, and resource efficiency.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Random Forest model: what it predicts (expected yield and yield category), and what features it uses. Show the GitHub repo structure to demonstrate the technical pipeline from notebook to backend.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deployment: a Flutter mobile app where users pick a state and crop and get an instant prediction with tips, plus a Streamlit web app for browser-based access. Emphasize this makes the model usable, not just accurate.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three concrete recommendations: expand Sugarcane/Rice cultivation in leading states, plan around the rainfall and temperature thresholds, and use the AI model to reduce fertilizer waste.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recapping the full journey from raw data to a deployed AI tool. Thank the supervisor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A1E"/>
        </a:solidFill>
        <a:effectLst/>
      </p:bgPr>
    </p:bg>
    <p:spTree>
      <p:nvGrpSpPr>
        <p:cNvPr id="1" name=""/>
        <p:cNvGrpSpPr/>
        <p:nvPr/>
      </p:nvGrpSpPr>
      <p:grpSpPr>
        <a:xfrm>
          <a:off x="0" y="0"/>
          <a:ext cx="0" cy="0"/>
          <a:chOff x="0" y="0"/>
          <a:chExt cx="0" cy="0"/>
        </a:xfrm>
      </p:grpSpPr>
      <p:sp>
        <p:nvSpPr>
          <p:cNvPr id="2" name="Shape 0"/>
          <p:cNvSpPr/>
          <p:nvPr/>
        </p:nvSpPr>
        <p:spPr>
          <a:xfrm>
            <a:off x="9966960" y="-1463040"/>
            <a:ext cx="4206240" cy="4206240"/>
          </a:xfrm>
          <a:prstGeom prst="ellipse">
            <a:avLst/>
          </a:prstGeom>
          <a:solidFill>
            <a:srgbClr val="1F3D2C"/>
          </a:solidFill>
          <a:ln/>
        </p:spPr>
        <p:txBody>
          <a:bodyPr/>
          <a:lstStyle/>
          <a:p>
            <a:endParaRPr lang="en-US"/>
          </a:p>
        </p:txBody>
      </p:sp>
      <p:sp>
        <p:nvSpPr>
          <p:cNvPr id="3" name="Shape 1"/>
          <p:cNvSpPr/>
          <p:nvPr/>
        </p:nvSpPr>
        <p:spPr>
          <a:xfrm>
            <a:off x="-1357884" y="5312664"/>
            <a:ext cx="3840480" cy="3840480"/>
          </a:xfrm>
          <a:prstGeom prst="ellipse">
            <a:avLst/>
          </a:prstGeom>
          <a:solidFill>
            <a:srgbClr val="1F3D2C"/>
          </a:solidFill>
          <a:ln/>
        </p:spPr>
        <p:txBody>
          <a:bodyPr/>
          <a:lstStyle/>
          <a:p>
            <a:endParaRPr lang="en-US"/>
          </a:p>
        </p:txBody>
      </p:sp>
      <p:sp>
        <p:nvSpPr>
          <p:cNvPr id="4" name="Shape 2"/>
          <p:cNvSpPr/>
          <p:nvPr/>
        </p:nvSpPr>
        <p:spPr>
          <a:xfrm>
            <a:off x="5545836" y="1051560"/>
            <a:ext cx="1097280" cy="1097280"/>
          </a:xfrm>
          <a:prstGeom prst="ellipse">
            <a:avLst/>
          </a:prstGeom>
          <a:solidFill>
            <a:srgbClr val="7FA65C"/>
          </a:solidFill>
          <a:ln/>
        </p:spPr>
        <p:txBody>
          <a:bodyPr/>
          <a:lstStyle/>
          <a:p>
            <a:endParaRPr lang="en-US"/>
          </a:p>
        </p:txBody>
      </p:sp>
      <p:pic>
        <p:nvPicPr>
          <p:cNvPr id="5" name="Image 0" descr="/home/claude/proj/icons/seedling_white.png"/>
          <p:cNvPicPr>
            <a:picLocks noChangeAspect="1"/>
          </p:cNvPicPr>
          <p:nvPr/>
        </p:nvPicPr>
        <p:blipFill>
          <a:blip r:embed="rId3"/>
          <a:stretch>
            <a:fillRect/>
          </a:stretch>
        </p:blipFill>
        <p:spPr>
          <a:xfrm>
            <a:off x="5677510" y="1183234"/>
            <a:ext cx="833933" cy="833933"/>
          </a:xfrm>
          <a:prstGeom prst="rect">
            <a:avLst/>
          </a:prstGeom>
        </p:spPr>
      </p:pic>
      <p:sp>
        <p:nvSpPr>
          <p:cNvPr id="6" name="Text 3"/>
          <p:cNvSpPr/>
          <p:nvPr/>
        </p:nvSpPr>
        <p:spPr>
          <a:xfrm>
            <a:off x="0" y="2395728"/>
            <a:ext cx="12188952" cy="320040"/>
          </a:xfrm>
          <a:prstGeom prst="rect">
            <a:avLst/>
          </a:prstGeom>
          <a:noFill/>
          <a:ln/>
        </p:spPr>
        <p:txBody>
          <a:bodyPr wrap="square" rtlCol="0" anchor="ctr"/>
          <a:lstStyle/>
          <a:p>
            <a:pPr marL="0" indent="0" algn="ctr">
              <a:buNone/>
            </a:pPr>
            <a:r>
              <a:rPr lang="en-US" sz="1300" b="1" kern="0" spc="200" dirty="0">
                <a:solidFill>
                  <a:srgbClr val="D9A441"/>
                </a:solidFill>
                <a:latin typeface="Calibri" pitchFamily="34" charset="0"/>
                <a:ea typeface="Calibri" pitchFamily="34" charset="-122"/>
                <a:cs typeface="Calibri" pitchFamily="34" charset="-120"/>
              </a:rPr>
              <a:t>NTI  •  ADVANCED DATA ANALYSIS  •  GRADUATION PROJECT</a:t>
            </a:r>
            <a:endParaRPr lang="en-US" sz="1300" dirty="0"/>
          </a:p>
        </p:txBody>
      </p:sp>
      <p:sp>
        <p:nvSpPr>
          <p:cNvPr id="7" name="Text 4"/>
          <p:cNvSpPr/>
          <p:nvPr/>
        </p:nvSpPr>
        <p:spPr>
          <a:xfrm>
            <a:off x="457200" y="2788920"/>
            <a:ext cx="11274552" cy="100584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SMART AGRICULTURE</a:t>
            </a:r>
            <a:endParaRPr lang="en-US" sz="5400" dirty="0"/>
          </a:p>
        </p:txBody>
      </p:sp>
      <p:sp>
        <p:nvSpPr>
          <p:cNvPr id="8" name="Text 5"/>
          <p:cNvSpPr/>
          <p:nvPr/>
        </p:nvSpPr>
        <p:spPr>
          <a:xfrm>
            <a:off x="457200" y="3703320"/>
            <a:ext cx="11274552" cy="457200"/>
          </a:xfrm>
          <a:prstGeom prst="rect">
            <a:avLst/>
          </a:prstGeom>
          <a:noFill/>
          <a:ln/>
        </p:spPr>
        <p:txBody>
          <a:bodyPr wrap="square" rtlCol="0" anchor="ctr"/>
          <a:lstStyle/>
          <a:p>
            <a:pPr marL="0" indent="0" algn="ctr">
              <a:buNone/>
            </a:pPr>
            <a:r>
              <a:rPr lang="en-US" sz="1800" i="1" dirty="0">
                <a:solidFill>
                  <a:srgbClr val="E7F0DE"/>
                </a:solidFill>
                <a:latin typeface="Calibri" pitchFamily="34" charset="0"/>
                <a:ea typeface="Calibri" pitchFamily="34" charset="-122"/>
                <a:cs typeface="Calibri" pitchFamily="34" charset="-120"/>
              </a:rPr>
              <a:t>From Raw Data to AI-Powered Yield Predictions</a:t>
            </a:r>
            <a:endParaRPr lang="en-US" sz="1800" dirty="0"/>
          </a:p>
        </p:txBody>
      </p:sp>
      <p:sp>
        <p:nvSpPr>
          <p:cNvPr id="9" name="Shape 6"/>
          <p:cNvSpPr/>
          <p:nvPr/>
        </p:nvSpPr>
        <p:spPr>
          <a:xfrm>
            <a:off x="699516" y="4709160"/>
            <a:ext cx="3383280" cy="1051560"/>
          </a:xfrm>
          <a:prstGeom prst="roundRect">
            <a:avLst>
              <a:gd name="adj" fmla="val 6957"/>
            </a:avLst>
          </a:prstGeom>
          <a:solidFill>
            <a:srgbClr val="1F3D2C"/>
          </a:solidFill>
          <a:ln w="12700">
            <a:solidFill>
              <a:srgbClr val="2E5A41"/>
            </a:solidFill>
            <a:prstDash val="solid"/>
          </a:ln>
        </p:spPr>
        <p:txBody>
          <a:bodyPr/>
          <a:lstStyle/>
          <a:p>
            <a:endParaRPr lang="en-US"/>
          </a:p>
        </p:txBody>
      </p:sp>
      <p:sp>
        <p:nvSpPr>
          <p:cNvPr id="10" name="Text 7"/>
          <p:cNvSpPr/>
          <p:nvPr/>
        </p:nvSpPr>
        <p:spPr>
          <a:xfrm>
            <a:off x="882396" y="4828032"/>
            <a:ext cx="301752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Fatma Mohamed Osman</a:t>
            </a:r>
            <a:endParaRPr lang="en-US" sz="1350" dirty="0"/>
          </a:p>
        </p:txBody>
      </p:sp>
      <p:sp>
        <p:nvSpPr>
          <p:cNvPr id="11" name="Text 8"/>
          <p:cNvSpPr/>
          <p:nvPr/>
        </p:nvSpPr>
        <p:spPr>
          <a:xfrm>
            <a:off x="882396" y="5193792"/>
            <a:ext cx="3017520" cy="457200"/>
          </a:xfrm>
          <a:prstGeom prst="rect">
            <a:avLst/>
          </a:prstGeom>
          <a:noFill/>
          <a:ln/>
        </p:spPr>
        <p:txBody>
          <a:bodyPr wrap="square" rtlCol="0" anchor="ctr"/>
          <a:lstStyle/>
          <a:p>
            <a:pPr marL="0" indent="0">
              <a:buNone/>
            </a:pPr>
            <a:r>
              <a:rPr lang="en-US" sz="1100" dirty="0">
                <a:solidFill>
                  <a:srgbClr val="E7F0DE"/>
                </a:solidFill>
                <a:latin typeface="Calibri" pitchFamily="34" charset="0"/>
                <a:ea typeface="Calibri" pitchFamily="34" charset="-122"/>
                <a:cs typeface="Calibri" pitchFamily="34" charset="-120"/>
              </a:rPr>
              <a:t>Data Cleaning &amp; Preprocessing</a:t>
            </a:r>
            <a:endParaRPr lang="en-US" sz="1100" dirty="0"/>
          </a:p>
        </p:txBody>
      </p:sp>
      <p:sp>
        <p:nvSpPr>
          <p:cNvPr id="12" name="Shape 9"/>
          <p:cNvSpPr/>
          <p:nvPr/>
        </p:nvSpPr>
        <p:spPr>
          <a:xfrm>
            <a:off x="4402836" y="4709160"/>
            <a:ext cx="3383280" cy="1051560"/>
          </a:xfrm>
          <a:prstGeom prst="roundRect">
            <a:avLst>
              <a:gd name="adj" fmla="val 6957"/>
            </a:avLst>
          </a:prstGeom>
          <a:solidFill>
            <a:srgbClr val="1F3D2C"/>
          </a:solidFill>
          <a:ln w="12700">
            <a:solidFill>
              <a:srgbClr val="2E5A41"/>
            </a:solidFill>
            <a:prstDash val="solid"/>
          </a:ln>
        </p:spPr>
        <p:txBody>
          <a:bodyPr/>
          <a:lstStyle/>
          <a:p>
            <a:endParaRPr lang="en-US"/>
          </a:p>
        </p:txBody>
      </p:sp>
      <p:sp>
        <p:nvSpPr>
          <p:cNvPr id="13" name="Text 10"/>
          <p:cNvSpPr/>
          <p:nvPr/>
        </p:nvSpPr>
        <p:spPr>
          <a:xfrm>
            <a:off x="4585716" y="4828032"/>
            <a:ext cx="301752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Menna Waleed Abdulrahman</a:t>
            </a:r>
            <a:endParaRPr lang="en-US" sz="1350" dirty="0"/>
          </a:p>
        </p:txBody>
      </p:sp>
      <p:sp>
        <p:nvSpPr>
          <p:cNvPr id="14" name="Text 11"/>
          <p:cNvSpPr/>
          <p:nvPr/>
        </p:nvSpPr>
        <p:spPr>
          <a:xfrm>
            <a:off x="4585716" y="5193792"/>
            <a:ext cx="3017520" cy="457200"/>
          </a:xfrm>
          <a:prstGeom prst="rect">
            <a:avLst/>
          </a:prstGeom>
          <a:noFill/>
          <a:ln/>
        </p:spPr>
        <p:txBody>
          <a:bodyPr wrap="square" rtlCol="0" anchor="ctr"/>
          <a:lstStyle/>
          <a:p>
            <a:pPr marL="0" indent="0">
              <a:buNone/>
            </a:pPr>
            <a:r>
              <a:rPr lang="en-US" sz="1100" dirty="0">
                <a:solidFill>
                  <a:srgbClr val="E7F0DE"/>
                </a:solidFill>
                <a:latin typeface="Calibri" pitchFamily="34" charset="0"/>
                <a:ea typeface="Calibri" pitchFamily="34" charset="-122"/>
                <a:cs typeface="Calibri" pitchFamily="34" charset="-120"/>
              </a:rPr>
              <a:t>Dashboard, Insights &amp; Design</a:t>
            </a:r>
            <a:endParaRPr lang="en-US" sz="1100" dirty="0"/>
          </a:p>
        </p:txBody>
      </p:sp>
      <p:sp>
        <p:nvSpPr>
          <p:cNvPr id="15" name="Shape 12"/>
          <p:cNvSpPr/>
          <p:nvPr/>
        </p:nvSpPr>
        <p:spPr>
          <a:xfrm>
            <a:off x="8106156" y="4709160"/>
            <a:ext cx="3383280" cy="1051560"/>
          </a:xfrm>
          <a:prstGeom prst="roundRect">
            <a:avLst>
              <a:gd name="adj" fmla="val 6957"/>
            </a:avLst>
          </a:prstGeom>
          <a:solidFill>
            <a:srgbClr val="1F3D2C"/>
          </a:solidFill>
          <a:ln w="12700">
            <a:solidFill>
              <a:srgbClr val="2E5A41"/>
            </a:solidFill>
            <a:prstDash val="solid"/>
          </a:ln>
        </p:spPr>
        <p:txBody>
          <a:bodyPr/>
          <a:lstStyle/>
          <a:p>
            <a:endParaRPr lang="en-US"/>
          </a:p>
        </p:txBody>
      </p:sp>
      <p:sp>
        <p:nvSpPr>
          <p:cNvPr id="16" name="Text 13"/>
          <p:cNvSpPr/>
          <p:nvPr/>
        </p:nvSpPr>
        <p:spPr>
          <a:xfrm>
            <a:off x="8289036" y="4828032"/>
            <a:ext cx="301752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Fatma Hasan Abdulrazek</a:t>
            </a:r>
            <a:endParaRPr lang="en-US" sz="1350" dirty="0"/>
          </a:p>
        </p:txBody>
      </p:sp>
      <p:sp>
        <p:nvSpPr>
          <p:cNvPr id="17" name="Text 14"/>
          <p:cNvSpPr/>
          <p:nvPr/>
        </p:nvSpPr>
        <p:spPr>
          <a:xfrm>
            <a:off x="8289036" y="5193792"/>
            <a:ext cx="3017520" cy="457200"/>
          </a:xfrm>
          <a:prstGeom prst="rect">
            <a:avLst/>
          </a:prstGeom>
          <a:noFill/>
          <a:ln/>
        </p:spPr>
        <p:txBody>
          <a:bodyPr wrap="square" rtlCol="0" anchor="ctr"/>
          <a:lstStyle/>
          <a:p>
            <a:pPr marL="0" indent="0">
              <a:buNone/>
            </a:pPr>
            <a:r>
              <a:rPr lang="en-US" sz="1100" dirty="0">
                <a:solidFill>
                  <a:srgbClr val="E7F0DE"/>
                </a:solidFill>
                <a:latin typeface="Calibri" pitchFamily="34" charset="0"/>
                <a:ea typeface="Calibri" pitchFamily="34" charset="-122"/>
                <a:cs typeface="Calibri" pitchFamily="34" charset="-120"/>
              </a:rPr>
              <a:t>AI Model &amp; Deployment</a:t>
            </a:r>
            <a:endParaRPr lang="en-US" sz="1100" dirty="0"/>
          </a:p>
        </p:txBody>
      </p:sp>
      <p:sp>
        <p:nvSpPr>
          <p:cNvPr id="18" name="Text 15"/>
          <p:cNvSpPr/>
          <p:nvPr/>
        </p:nvSpPr>
        <p:spPr>
          <a:xfrm>
            <a:off x="0" y="6053328"/>
            <a:ext cx="12188952" cy="320040"/>
          </a:xfrm>
          <a:prstGeom prst="rect">
            <a:avLst/>
          </a:prstGeom>
          <a:noFill/>
          <a:ln/>
        </p:spPr>
        <p:txBody>
          <a:bodyPr wrap="square" rtlCol="0" anchor="ctr"/>
          <a:lstStyle/>
          <a:p>
            <a:pPr marL="0" indent="0" algn="ctr">
              <a:buNone/>
            </a:pPr>
            <a:r>
              <a:rPr lang="en-US" sz="1200" dirty="0">
                <a:solidFill>
                  <a:srgbClr val="9FB79A"/>
                </a:solidFill>
                <a:latin typeface="Calibri" pitchFamily="34" charset="0"/>
                <a:ea typeface="Calibri" pitchFamily="34" charset="-122"/>
                <a:cs typeface="Calibri" pitchFamily="34" charset="-120"/>
              </a:rPr>
              <a:t>Supervised by Eng. Hager Ayman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749808"/>
            <a:ext cx="9144000" cy="640080"/>
          </a:xfrm>
          <a:prstGeom prst="rect">
            <a:avLst/>
          </a:prstGeom>
          <a:noFill/>
          <a:ln/>
        </p:spPr>
        <p:txBody>
          <a:bodyPr wrap="square" rtlCol="0" anchor="ctr"/>
          <a:lstStyle/>
          <a:p>
            <a:pPr marL="0" indent="0">
              <a:buNone/>
            </a:pPr>
            <a:r>
              <a:rPr lang="en-US" sz="3400" b="1" dirty="0">
                <a:solidFill>
                  <a:srgbClr val="1A2E22"/>
                </a:solidFill>
                <a:latin typeface="Cambria" pitchFamily="34" charset="0"/>
                <a:ea typeface="Cambria" pitchFamily="34" charset="-122"/>
                <a:cs typeface="Cambria" pitchFamily="34" charset="-120"/>
              </a:rPr>
              <a:t>What We'll Cover</a:t>
            </a:r>
            <a:endParaRPr lang="en-US" sz="3400" dirty="0"/>
          </a:p>
        </p:txBody>
      </p:sp>
      <p:sp>
        <p:nvSpPr>
          <p:cNvPr id="4" name="Shape 2"/>
          <p:cNvSpPr/>
          <p:nvPr/>
        </p:nvSpPr>
        <p:spPr>
          <a:xfrm>
            <a:off x="548640" y="1691640"/>
            <a:ext cx="566928" cy="566928"/>
          </a:xfrm>
          <a:prstGeom prst="ellipse">
            <a:avLst/>
          </a:prstGeom>
          <a:solidFill>
            <a:srgbClr val="1F3D2C"/>
          </a:solidFill>
          <a:ln/>
        </p:spPr>
        <p:txBody>
          <a:bodyPr/>
          <a:lstStyle/>
          <a:p>
            <a:endParaRPr lang="en-US"/>
          </a:p>
        </p:txBody>
      </p:sp>
      <p:pic>
        <p:nvPicPr>
          <p:cNvPr id="5" name="Image 0" descr="/home/claude/proj/icons/bullseye_white.png"/>
          <p:cNvPicPr>
            <a:picLocks noChangeAspect="1"/>
          </p:cNvPicPr>
          <p:nvPr/>
        </p:nvPicPr>
        <p:blipFill>
          <a:blip r:embed="rId3"/>
          <a:stretch>
            <a:fillRect/>
          </a:stretch>
        </p:blipFill>
        <p:spPr>
          <a:xfrm>
            <a:off x="616671" y="1759671"/>
            <a:ext cx="430865" cy="430865"/>
          </a:xfrm>
          <a:prstGeom prst="rect">
            <a:avLst/>
          </a:prstGeom>
        </p:spPr>
      </p:pic>
      <p:sp>
        <p:nvSpPr>
          <p:cNvPr id="6" name="Text 3"/>
          <p:cNvSpPr/>
          <p:nvPr/>
        </p:nvSpPr>
        <p:spPr>
          <a:xfrm>
            <a:off x="1298448" y="1664208"/>
            <a:ext cx="4539996" cy="36576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Business Problem &amp; Objective</a:t>
            </a:r>
            <a:endParaRPr lang="en-US" sz="1450" dirty="0"/>
          </a:p>
        </p:txBody>
      </p:sp>
      <p:sp>
        <p:nvSpPr>
          <p:cNvPr id="7" name="Text 4"/>
          <p:cNvSpPr/>
          <p:nvPr/>
        </p:nvSpPr>
        <p:spPr>
          <a:xfrm>
            <a:off x="1298448" y="2002536"/>
            <a:ext cx="4539996" cy="365760"/>
          </a:xfrm>
          <a:prstGeom prst="rect">
            <a:avLst/>
          </a:prstGeom>
          <a:noFill/>
          <a:ln/>
        </p:spPr>
        <p:txBody>
          <a:bodyPr wrap="square" rtlCol="0" anchor="ctr"/>
          <a:lstStyle/>
          <a:p>
            <a:pPr marL="0" indent="0">
              <a:buNone/>
            </a:pPr>
            <a:r>
              <a:rPr lang="en-US" sz="1150" dirty="0">
                <a:solidFill>
                  <a:srgbClr val="5B6B60"/>
                </a:solidFill>
                <a:latin typeface="Calibri" pitchFamily="34" charset="0"/>
                <a:ea typeface="Calibri" pitchFamily="34" charset="-122"/>
                <a:cs typeface="Calibri" pitchFamily="34" charset="-120"/>
              </a:rPr>
              <a:t>Why this project matters</a:t>
            </a:r>
            <a:endParaRPr lang="en-US" sz="1150" dirty="0"/>
          </a:p>
        </p:txBody>
      </p:sp>
      <p:sp>
        <p:nvSpPr>
          <p:cNvPr id="8" name="Shape 5"/>
          <p:cNvSpPr/>
          <p:nvPr/>
        </p:nvSpPr>
        <p:spPr>
          <a:xfrm>
            <a:off x="6323076" y="1691640"/>
            <a:ext cx="566928" cy="566928"/>
          </a:xfrm>
          <a:prstGeom prst="ellipse">
            <a:avLst/>
          </a:prstGeom>
          <a:solidFill>
            <a:srgbClr val="1F3D2C"/>
          </a:solidFill>
          <a:ln/>
        </p:spPr>
        <p:txBody>
          <a:bodyPr/>
          <a:lstStyle/>
          <a:p>
            <a:endParaRPr lang="en-US"/>
          </a:p>
        </p:txBody>
      </p:sp>
      <p:pic>
        <p:nvPicPr>
          <p:cNvPr id="9" name="Image 1" descr="/home/claude/proj/icons/database_white.png"/>
          <p:cNvPicPr>
            <a:picLocks noChangeAspect="1"/>
          </p:cNvPicPr>
          <p:nvPr/>
        </p:nvPicPr>
        <p:blipFill>
          <a:blip r:embed="rId4"/>
          <a:stretch>
            <a:fillRect/>
          </a:stretch>
        </p:blipFill>
        <p:spPr>
          <a:xfrm>
            <a:off x="6391107" y="1759671"/>
            <a:ext cx="430865" cy="430865"/>
          </a:xfrm>
          <a:prstGeom prst="rect">
            <a:avLst/>
          </a:prstGeom>
        </p:spPr>
      </p:pic>
      <p:sp>
        <p:nvSpPr>
          <p:cNvPr id="10" name="Text 6"/>
          <p:cNvSpPr/>
          <p:nvPr/>
        </p:nvSpPr>
        <p:spPr>
          <a:xfrm>
            <a:off x="7072884" y="1664208"/>
            <a:ext cx="4539996" cy="36576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The Dataset</a:t>
            </a:r>
            <a:endParaRPr lang="en-US" sz="1450" dirty="0"/>
          </a:p>
        </p:txBody>
      </p:sp>
      <p:sp>
        <p:nvSpPr>
          <p:cNvPr id="11" name="Text 7"/>
          <p:cNvSpPr/>
          <p:nvPr/>
        </p:nvSpPr>
        <p:spPr>
          <a:xfrm>
            <a:off x="7072884" y="2002536"/>
            <a:ext cx="4539996" cy="365760"/>
          </a:xfrm>
          <a:prstGeom prst="rect">
            <a:avLst/>
          </a:prstGeom>
          <a:noFill/>
          <a:ln/>
        </p:spPr>
        <p:txBody>
          <a:bodyPr wrap="square" rtlCol="0" anchor="ctr"/>
          <a:lstStyle/>
          <a:p>
            <a:pPr marL="0" indent="0">
              <a:buNone/>
            </a:pPr>
            <a:r>
              <a:rPr lang="en-US" sz="1150" dirty="0">
                <a:solidFill>
                  <a:srgbClr val="5B6B60"/>
                </a:solidFill>
                <a:latin typeface="Calibri" pitchFamily="34" charset="0"/>
                <a:ea typeface="Calibri" pitchFamily="34" charset="-122"/>
                <a:cs typeface="Calibri" pitchFamily="34" charset="-120"/>
              </a:rPr>
              <a:t>19,572 records across 16 variables</a:t>
            </a:r>
            <a:endParaRPr lang="en-US" sz="1150" dirty="0"/>
          </a:p>
        </p:txBody>
      </p:sp>
      <p:sp>
        <p:nvSpPr>
          <p:cNvPr id="12" name="Shape 8"/>
          <p:cNvSpPr/>
          <p:nvPr/>
        </p:nvSpPr>
        <p:spPr>
          <a:xfrm>
            <a:off x="548640" y="2624328"/>
            <a:ext cx="566928" cy="566928"/>
          </a:xfrm>
          <a:prstGeom prst="ellipse">
            <a:avLst/>
          </a:prstGeom>
          <a:solidFill>
            <a:srgbClr val="1F3D2C"/>
          </a:solidFill>
          <a:ln/>
        </p:spPr>
        <p:txBody>
          <a:bodyPr/>
          <a:lstStyle/>
          <a:p>
            <a:endParaRPr lang="en-US"/>
          </a:p>
        </p:txBody>
      </p:sp>
      <p:pic>
        <p:nvPicPr>
          <p:cNvPr id="13" name="Image 2" descr="/home/claude/proj/icons/chartline_white.png"/>
          <p:cNvPicPr>
            <a:picLocks noChangeAspect="1"/>
          </p:cNvPicPr>
          <p:nvPr/>
        </p:nvPicPr>
        <p:blipFill>
          <a:blip r:embed="rId5"/>
          <a:stretch>
            <a:fillRect/>
          </a:stretch>
        </p:blipFill>
        <p:spPr>
          <a:xfrm>
            <a:off x="616671" y="2692359"/>
            <a:ext cx="430865" cy="430865"/>
          </a:xfrm>
          <a:prstGeom prst="rect">
            <a:avLst/>
          </a:prstGeom>
        </p:spPr>
      </p:pic>
      <p:sp>
        <p:nvSpPr>
          <p:cNvPr id="14" name="Text 9"/>
          <p:cNvSpPr/>
          <p:nvPr/>
        </p:nvSpPr>
        <p:spPr>
          <a:xfrm>
            <a:off x="1298448" y="2596896"/>
            <a:ext cx="4539996" cy="36576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From Raw Data to Insights</a:t>
            </a:r>
            <a:endParaRPr lang="en-US" sz="1450" dirty="0"/>
          </a:p>
        </p:txBody>
      </p:sp>
      <p:sp>
        <p:nvSpPr>
          <p:cNvPr id="15" name="Text 10"/>
          <p:cNvSpPr/>
          <p:nvPr/>
        </p:nvSpPr>
        <p:spPr>
          <a:xfrm>
            <a:off x="1298448" y="2935224"/>
            <a:ext cx="4539996" cy="365760"/>
          </a:xfrm>
          <a:prstGeom prst="rect">
            <a:avLst/>
          </a:prstGeom>
          <a:noFill/>
          <a:ln/>
        </p:spPr>
        <p:txBody>
          <a:bodyPr wrap="square" rtlCol="0" anchor="ctr"/>
          <a:lstStyle/>
          <a:p>
            <a:pPr marL="0" indent="0">
              <a:buNone/>
            </a:pPr>
            <a:r>
              <a:rPr lang="en-US" sz="1150" dirty="0">
                <a:solidFill>
                  <a:srgbClr val="5B6B60"/>
                </a:solidFill>
                <a:latin typeface="Calibri" pitchFamily="34" charset="0"/>
                <a:ea typeface="Calibri" pitchFamily="34" charset="-122"/>
                <a:cs typeface="Calibri" pitchFamily="34" charset="-120"/>
              </a:rPr>
              <a:t>Cleaning, EDA &amp; key patterns</a:t>
            </a:r>
            <a:endParaRPr lang="en-US" sz="1150" dirty="0"/>
          </a:p>
        </p:txBody>
      </p:sp>
      <p:sp>
        <p:nvSpPr>
          <p:cNvPr id="16" name="Shape 11"/>
          <p:cNvSpPr/>
          <p:nvPr/>
        </p:nvSpPr>
        <p:spPr>
          <a:xfrm>
            <a:off x="6323076" y="2624328"/>
            <a:ext cx="566928" cy="566928"/>
          </a:xfrm>
          <a:prstGeom prst="ellipse">
            <a:avLst/>
          </a:prstGeom>
          <a:solidFill>
            <a:srgbClr val="1F3D2C"/>
          </a:solidFill>
          <a:ln/>
        </p:spPr>
        <p:txBody>
          <a:bodyPr/>
          <a:lstStyle/>
          <a:p>
            <a:endParaRPr lang="en-US"/>
          </a:p>
        </p:txBody>
      </p:sp>
      <p:pic>
        <p:nvPicPr>
          <p:cNvPr id="17" name="Image 3" descr="/home/claude/proj/icons/chartpie_white.png"/>
          <p:cNvPicPr>
            <a:picLocks noChangeAspect="1"/>
          </p:cNvPicPr>
          <p:nvPr/>
        </p:nvPicPr>
        <p:blipFill>
          <a:blip r:embed="rId6"/>
          <a:stretch>
            <a:fillRect/>
          </a:stretch>
        </p:blipFill>
        <p:spPr>
          <a:xfrm>
            <a:off x="6391107" y="2692359"/>
            <a:ext cx="430865" cy="430865"/>
          </a:xfrm>
          <a:prstGeom prst="rect">
            <a:avLst/>
          </a:prstGeom>
        </p:spPr>
      </p:pic>
      <p:sp>
        <p:nvSpPr>
          <p:cNvPr id="18" name="Text 12"/>
          <p:cNvSpPr/>
          <p:nvPr/>
        </p:nvSpPr>
        <p:spPr>
          <a:xfrm>
            <a:off x="7072884" y="2596896"/>
            <a:ext cx="4539996" cy="36576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Interactive Dashboard</a:t>
            </a:r>
            <a:endParaRPr lang="en-US" sz="1450" dirty="0"/>
          </a:p>
        </p:txBody>
      </p:sp>
      <p:sp>
        <p:nvSpPr>
          <p:cNvPr id="19" name="Text 13"/>
          <p:cNvSpPr/>
          <p:nvPr/>
        </p:nvSpPr>
        <p:spPr>
          <a:xfrm>
            <a:off x="7072884" y="2935224"/>
            <a:ext cx="4539996" cy="365760"/>
          </a:xfrm>
          <a:prstGeom prst="rect">
            <a:avLst/>
          </a:prstGeom>
          <a:noFill/>
          <a:ln/>
        </p:spPr>
        <p:txBody>
          <a:bodyPr wrap="square" rtlCol="0" anchor="ctr"/>
          <a:lstStyle/>
          <a:p>
            <a:pPr marL="0" indent="0">
              <a:buNone/>
            </a:pPr>
            <a:r>
              <a:rPr lang="en-US" sz="1150" dirty="0">
                <a:solidFill>
                  <a:srgbClr val="5B6B60"/>
                </a:solidFill>
                <a:latin typeface="Calibri" pitchFamily="34" charset="0"/>
                <a:ea typeface="Calibri" pitchFamily="34" charset="-122"/>
                <a:cs typeface="Calibri" pitchFamily="34" charset="-120"/>
              </a:rPr>
              <a:t>Power BI storytelling</a:t>
            </a:r>
            <a:endParaRPr lang="en-US" sz="1150" dirty="0"/>
          </a:p>
        </p:txBody>
      </p:sp>
      <p:sp>
        <p:nvSpPr>
          <p:cNvPr id="20" name="Shape 14"/>
          <p:cNvSpPr/>
          <p:nvPr/>
        </p:nvSpPr>
        <p:spPr>
          <a:xfrm>
            <a:off x="548640" y="3557016"/>
            <a:ext cx="566928" cy="566928"/>
          </a:xfrm>
          <a:prstGeom prst="ellipse">
            <a:avLst/>
          </a:prstGeom>
          <a:solidFill>
            <a:srgbClr val="1F3D2C"/>
          </a:solidFill>
          <a:ln/>
        </p:spPr>
        <p:txBody>
          <a:bodyPr/>
          <a:lstStyle/>
          <a:p>
            <a:endParaRPr lang="en-US"/>
          </a:p>
        </p:txBody>
      </p:sp>
      <p:pic>
        <p:nvPicPr>
          <p:cNvPr id="21" name="Image 4" descr="/home/claude/proj/icons/brain_white.png"/>
          <p:cNvPicPr>
            <a:picLocks noChangeAspect="1"/>
          </p:cNvPicPr>
          <p:nvPr/>
        </p:nvPicPr>
        <p:blipFill>
          <a:blip r:embed="rId7"/>
          <a:stretch>
            <a:fillRect/>
          </a:stretch>
        </p:blipFill>
        <p:spPr>
          <a:xfrm>
            <a:off x="616671" y="3625047"/>
            <a:ext cx="430865" cy="430865"/>
          </a:xfrm>
          <a:prstGeom prst="rect">
            <a:avLst/>
          </a:prstGeom>
        </p:spPr>
      </p:pic>
      <p:sp>
        <p:nvSpPr>
          <p:cNvPr id="22" name="Text 15"/>
          <p:cNvSpPr/>
          <p:nvPr/>
        </p:nvSpPr>
        <p:spPr>
          <a:xfrm>
            <a:off x="1298448" y="3529584"/>
            <a:ext cx="4539996" cy="36576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AI Prediction Model</a:t>
            </a:r>
            <a:endParaRPr lang="en-US" sz="1450" dirty="0"/>
          </a:p>
        </p:txBody>
      </p:sp>
      <p:sp>
        <p:nvSpPr>
          <p:cNvPr id="23" name="Text 16"/>
          <p:cNvSpPr/>
          <p:nvPr/>
        </p:nvSpPr>
        <p:spPr>
          <a:xfrm>
            <a:off x="1298448" y="3867912"/>
            <a:ext cx="4539996" cy="365760"/>
          </a:xfrm>
          <a:prstGeom prst="rect">
            <a:avLst/>
          </a:prstGeom>
          <a:noFill/>
          <a:ln/>
        </p:spPr>
        <p:txBody>
          <a:bodyPr wrap="square" rtlCol="0" anchor="ctr"/>
          <a:lstStyle/>
          <a:p>
            <a:pPr marL="0" indent="0">
              <a:buNone/>
            </a:pPr>
            <a:r>
              <a:rPr lang="en-US" sz="1150" dirty="0">
                <a:solidFill>
                  <a:srgbClr val="5B6B60"/>
                </a:solidFill>
                <a:latin typeface="Calibri" pitchFamily="34" charset="0"/>
                <a:ea typeface="Calibri" pitchFamily="34" charset="-122"/>
                <a:cs typeface="Calibri" pitchFamily="34" charset="-120"/>
              </a:rPr>
              <a:t>Random Forest yield prediction</a:t>
            </a:r>
            <a:endParaRPr lang="en-US" sz="1150" dirty="0"/>
          </a:p>
        </p:txBody>
      </p:sp>
      <p:sp>
        <p:nvSpPr>
          <p:cNvPr id="24" name="Shape 17"/>
          <p:cNvSpPr/>
          <p:nvPr/>
        </p:nvSpPr>
        <p:spPr>
          <a:xfrm>
            <a:off x="6323076" y="3557016"/>
            <a:ext cx="566928" cy="566928"/>
          </a:xfrm>
          <a:prstGeom prst="ellipse">
            <a:avLst/>
          </a:prstGeom>
          <a:solidFill>
            <a:srgbClr val="1F3D2C"/>
          </a:solidFill>
          <a:ln/>
        </p:spPr>
        <p:txBody>
          <a:bodyPr/>
          <a:lstStyle/>
          <a:p>
            <a:endParaRPr lang="en-US"/>
          </a:p>
        </p:txBody>
      </p:sp>
      <p:pic>
        <p:nvPicPr>
          <p:cNvPr id="25" name="Image 5" descr="/home/claude/proj/icons/mobile_white.png"/>
          <p:cNvPicPr>
            <a:picLocks noChangeAspect="1"/>
          </p:cNvPicPr>
          <p:nvPr/>
        </p:nvPicPr>
        <p:blipFill>
          <a:blip r:embed="rId8"/>
          <a:stretch>
            <a:fillRect/>
          </a:stretch>
        </p:blipFill>
        <p:spPr>
          <a:xfrm>
            <a:off x="6391107" y="3625047"/>
            <a:ext cx="430865" cy="430865"/>
          </a:xfrm>
          <a:prstGeom prst="rect">
            <a:avLst/>
          </a:prstGeom>
        </p:spPr>
      </p:pic>
      <p:sp>
        <p:nvSpPr>
          <p:cNvPr id="26" name="Text 18"/>
          <p:cNvSpPr/>
          <p:nvPr/>
        </p:nvSpPr>
        <p:spPr>
          <a:xfrm>
            <a:off x="7072884" y="3529584"/>
            <a:ext cx="4539996" cy="36576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Deployment</a:t>
            </a:r>
            <a:endParaRPr lang="en-US" sz="1450" dirty="0"/>
          </a:p>
        </p:txBody>
      </p:sp>
      <p:sp>
        <p:nvSpPr>
          <p:cNvPr id="27" name="Text 19"/>
          <p:cNvSpPr/>
          <p:nvPr/>
        </p:nvSpPr>
        <p:spPr>
          <a:xfrm>
            <a:off x="7072884" y="3867912"/>
            <a:ext cx="4539996" cy="365760"/>
          </a:xfrm>
          <a:prstGeom prst="rect">
            <a:avLst/>
          </a:prstGeom>
          <a:noFill/>
          <a:ln/>
        </p:spPr>
        <p:txBody>
          <a:bodyPr wrap="square" rtlCol="0" anchor="ctr"/>
          <a:lstStyle/>
          <a:p>
            <a:pPr marL="0" indent="0">
              <a:buNone/>
            </a:pPr>
            <a:r>
              <a:rPr lang="en-US" sz="1150" dirty="0">
                <a:solidFill>
                  <a:srgbClr val="5B6B60"/>
                </a:solidFill>
                <a:latin typeface="Calibri" pitchFamily="34" charset="0"/>
                <a:ea typeface="Calibri" pitchFamily="34" charset="-122"/>
                <a:cs typeface="Calibri" pitchFamily="34" charset="-120"/>
              </a:rPr>
              <a:t>Mobile app &amp; web (Streamlit)</a:t>
            </a:r>
            <a:endParaRPr lang="en-US" sz="1150" dirty="0"/>
          </a:p>
        </p:txBody>
      </p:sp>
      <p:sp>
        <p:nvSpPr>
          <p:cNvPr id="28" name="Shape 20"/>
          <p:cNvSpPr/>
          <p:nvPr/>
        </p:nvSpPr>
        <p:spPr>
          <a:xfrm>
            <a:off x="548640" y="4489704"/>
            <a:ext cx="566928" cy="566928"/>
          </a:xfrm>
          <a:prstGeom prst="ellipse">
            <a:avLst/>
          </a:prstGeom>
          <a:solidFill>
            <a:srgbClr val="1F3D2C"/>
          </a:solidFill>
          <a:ln/>
        </p:spPr>
        <p:txBody>
          <a:bodyPr/>
          <a:lstStyle/>
          <a:p>
            <a:endParaRPr lang="en-US"/>
          </a:p>
        </p:txBody>
      </p:sp>
      <p:pic>
        <p:nvPicPr>
          <p:cNvPr id="29" name="Image 6" descr="/home/claude/proj/icons/lightbulb_white.png"/>
          <p:cNvPicPr>
            <a:picLocks noChangeAspect="1"/>
          </p:cNvPicPr>
          <p:nvPr/>
        </p:nvPicPr>
        <p:blipFill>
          <a:blip r:embed="rId9"/>
          <a:stretch>
            <a:fillRect/>
          </a:stretch>
        </p:blipFill>
        <p:spPr>
          <a:xfrm>
            <a:off x="616671" y="4557735"/>
            <a:ext cx="430865" cy="430865"/>
          </a:xfrm>
          <a:prstGeom prst="rect">
            <a:avLst/>
          </a:prstGeom>
        </p:spPr>
      </p:pic>
      <p:sp>
        <p:nvSpPr>
          <p:cNvPr id="30" name="Text 21"/>
          <p:cNvSpPr/>
          <p:nvPr/>
        </p:nvSpPr>
        <p:spPr>
          <a:xfrm>
            <a:off x="1298448" y="4462272"/>
            <a:ext cx="4539996" cy="36576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Recommendations</a:t>
            </a:r>
            <a:endParaRPr lang="en-US" sz="1450" dirty="0"/>
          </a:p>
        </p:txBody>
      </p:sp>
      <p:sp>
        <p:nvSpPr>
          <p:cNvPr id="31" name="Text 22"/>
          <p:cNvSpPr/>
          <p:nvPr/>
        </p:nvSpPr>
        <p:spPr>
          <a:xfrm>
            <a:off x="1298448" y="4800600"/>
            <a:ext cx="4539996" cy="365760"/>
          </a:xfrm>
          <a:prstGeom prst="rect">
            <a:avLst/>
          </a:prstGeom>
          <a:noFill/>
          <a:ln/>
        </p:spPr>
        <p:txBody>
          <a:bodyPr wrap="square" rtlCol="0" anchor="ctr"/>
          <a:lstStyle/>
          <a:p>
            <a:pPr marL="0" indent="0">
              <a:buNone/>
            </a:pPr>
            <a:r>
              <a:rPr lang="en-US" sz="1150" dirty="0">
                <a:solidFill>
                  <a:srgbClr val="5B6B60"/>
                </a:solidFill>
                <a:latin typeface="Calibri" pitchFamily="34" charset="0"/>
                <a:ea typeface="Calibri" pitchFamily="34" charset="-122"/>
                <a:cs typeface="Calibri" pitchFamily="34" charset="-120"/>
              </a:rPr>
              <a:t>Actionable next steps</a:t>
            </a:r>
            <a:endParaRPr lang="en-US" sz="1150" dirty="0"/>
          </a:p>
        </p:txBody>
      </p:sp>
      <p:sp>
        <p:nvSpPr>
          <p:cNvPr id="32" name="Text 23"/>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33" name="Text 24"/>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749808"/>
            <a:ext cx="10972800" cy="640080"/>
          </a:xfrm>
          <a:prstGeom prst="rect">
            <a:avLst/>
          </a:prstGeom>
          <a:noFill/>
          <a:ln/>
        </p:spPr>
        <p:txBody>
          <a:bodyPr wrap="square" rtlCol="0" anchor="ctr"/>
          <a:lstStyle/>
          <a:p>
            <a:pPr marL="0" indent="0">
              <a:buNone/>
            </a:pPr>
            <a:r>
              <a:rPr lang="en-US" sz="3000" b="1" dirty="0">
                <a:solidFill>
                  <a:srgbClr val="1A2E22"/>
                </a:solidFill>
                <a:latin typeface="Cambria" pitchFamily="34" charset="0"/>
                <a:ea typeface="Cambria" pitchFamily="34" charset="-122"/>
                <a:cs typeface="Cambria" pitchFamily="34" charset="-120"/>
              </a:rPr>
              <a:t>Farming Decisions Are Still Made in the Dark</a:t>
            </a:r>
            <a:endParaRPr lang="en-US" sz="3000" dirty="0"/>
          </a:p>
        </p:txBody>
      </p:sp>
      <p:sp>
        <p:nvSpPr>
          <p:cNvPr id="4" name="Shape 2"/>
          <p:cNvSpPr/>
          <p:nvPr/>
        </p:nvSpPr>
        <p:spPr>
          <a:xfrm>
            <a:off x="548640" y="1691640"/>
            <a:ext cx="5486400" cy="4434840"/>
          </a:xfrm>
          <a:prstGeom prst="roundRect">
            <a:avLst>
              <a:gd name="adj" fmla="val 2062"/>
            </a:avLst>
          </a:prstGeom>
          <a:solidFill>
            <a:srgbClr val="F4F7F1"/>
          </a:solidFill>
          <a:ln/>
        </p:spPr>
        <p:txBody>
          <a:bodyPr/>
          <a:lstStyle/>
          <a:p>
            <a:endParaRPr lang="en-US"/>
          </a:p>
        </p:txBody>
      </p:sp>
      <p:sp>
        <p:nvSpPr>
          <p:cNvPr id="5" name="Shape 3"/>
          <p:cNvSpPr/>
          <p:nvPr/>
        </p:nvSpPr>
        <p:spPr>
          <a:xfrm>
            <a:off x="868680" y="1965960"/>
            <a:ext cx="548640" cy="548640"/>
          </a:xfrm>
          <a:prstGeom prst="ellipse">
            <a:avLst/>
          </a:prstGeom>
          <a:solidFill>
            <a:schemeClr val="accent6">
              <a:lumMod val="60000"/>
              <a:lumOff val="40000"/>
            </a:schemeClr>
          </a:solidFill>
          <a:ln>
            <a:solidFill>
              <a:schemeClr val="accent6">
                <a:lumMod val="75000"/>
              </a:schemeClr>
            </a:solidFill>
          </a:ln>
        </p:spPr>
        <p:txBody>
          <a:bodyPr/>
          <a:lstStyle/>
          <a:p>
            <a:endParaRPr lang="en-US"/>
          </a:p>
        </p:txBody>
      </p:sp>
      <p:pic>
        <p:nvPicPr>
          <p:cNvPr id="6" name="Image 0" descr="/home/claude/proj/icons/tractor_white.png"/>
          <p:cNvPicPr>
            <a:picLocks noChangeAspect="1"/>
          </p:cNvPicPr>
          <p:nvPr/>
        </p:nvPicPr>
        <p:blipFill>
          <a:blip r:embed="rId3"/>
          <a:stretch>
            <a:fillRect/>
          </a:stretch>
        </p:blipFill>
        <p:spPr>
          <a:xfrm>
            <a:off x="870509" y="2031797"/>
            <a:ext cx="473659" cy="416966"/>
          </a:xfrm>
          <a:prstGeom prst="rect">
            <a:avLst/>
          </a:prstGeom>
        </p:spPr>
      </p:pic>
      <p:sp>
        <p:nvSpPr>
          <p:cNvPr id="7" name="Text 4"/>
          <p:cNvSpPr/>
          <p:nvPr/>
        </p:nvSpPr>
        <p:spPr>
          <a:xfrm>
            <a:off x="1572768" y="2011680"/>
            <a:ext cx="4297680" cy="411480"/>
          </a:xfrm>
          <a:prstGeom prst="rect">
            <a:avLst/>
          </a:prstGeom>
          <a:noFill/>
          <a:ln/>
        </p:spPr>
        <p:txBody>
          <a:bodyPr wrap="square" rtlCol="0" anchor="ctr"/>
          <a:lstStyle/>
          <a:p>
            <a:pPr marL="0" indent="0">
              <a:buNone/>
            </a:pPr>
            <a:r>
              <a:rPr lang="en-US" sz="1600" b="1" dirty="0">
                <a:solidFill>
                  <a:srgbClr val="1A2E22"/>
                </a:solidFill>
                <a:latin typeface="Calibri" pitchFamily="34" charset="0"/>
                <a:ea typeface="Calibri" pitchFamily="34" charset="-122"/>
                <a:cs typeface="Calibri" pitchFamily="34" charset="-120"/>
              </a:rPr>
              <a:t>The Business Problem</a:t>
            </a:r>
            <a:endParaRPr lang="en-US" sz="1600" dirty="0"/>
          </a:p>
        </p:txBody>
      </p:sp>
      <p:sp>
        <p:nvSpPr>
          <p:cNvPr id="8" name="Text 5"/>
          <p:cNvSpPr/>
          <p:nvPr/>
        </p:nvSpPr>
        <p:spPr>
          <a:xfrm>
            <a:off x="868680" y="2697480"/>
            <a:ext cx="4846320" cy="3200400"/>
          </a:xfrm>
          <a:prstGeom prst="rect">
            <a:avLst/>
          </a:prstGeom>
          <a:noFill/>
          <a:ln/>
        </p:spPr>
        <p:txBody>
          <a:bodyPr wrap="square" rtlCol="0" anchor="ctr"/>
          <a:lstStyle/>
          <a:p>
            <a:pPr marL="0" indent="0">
              <a:lnSpc>
                <a:spcPct val="125000"/>
              </a:lnSpc>
              <a:buNone/>
            </a:pPr>
            <a:r>
              <a:rPr lang="en-US" sz="1400" dirty="0">
                <a:solidFill>
                  <a:srgbClr val="1A2E22"/>
                </a:solidFill>
                <a:latin typeface="Calibri" pitchFamily="34" charset="0"/>
                <a:ea typeface="Calibri" pitchFamily="34" charset="-122"/>
                <a:cs typeface="Calibri" pitchFamily="34" charset="-120"/>
              </a:rPr>
              <a:t>Farmers, agribusinesses, and planners often decide what to plant, how much to fertilize, and where to invest — without a clear, data-driven view of what actually drives yield. The result is inconsistent harvests, wasted fertilizer, and missed opportunities across states and seasons.</a:t>
            </a:r>
            <a:endParaRPr lang="en-US" sz="1400" dirty="0"/>
          </a:p>
        </p:txBody>
      </p:sp>
      <p:sp>
        <p:nvSpPr>
          <p:cNvPr id="9" name="Shape 6"/>
          <p:cNvSpPr/>
          <p:nvPr/>
        </p:nvSpPr>
        <p:spPr>
          <a:xfrm>
            <a:off x="6263640" y="1691640"/>
            <a:ext cx="5376672" cy="4434840"/>
          </a:xfrm>
          <a:prstGeom prst="roundRect">
            <a:avLst>
              <a:gd name="adj" fmla="val 2062"/>
            </a:avLst>
          </a:prstGeom>
          <a:solidFill>
            <a:srgbClr val="1F3D2C"/>
          </a:solidFill>
          <a:ln/>
        </p:spPr>
        <p:txBody>
          <a:bodyPr/>
          <a:lstStyle/>
          <a:p>
            <a:endParaRPr lang="en-US"/>
          </a:p>
        </p:txBody>
      </p:sp>
      <p:sp>
        <p:nvSpPr>
          <p:cNvPr id="10" name="Shape 7"/>
          <p:cNvSpPr/>
          <p:nvPr/>
        </p:nvSpPr>
        <p:spPr>
          <a:xfrm>
            <a:off x="6583680" y="1965960"/>
            <a:ext cx="548640" cy="548640"/>
          </a:xfrm>
          <a:prstGeom prst="ellipse">
            <a:avLst/>
          </a:prstGeom>
          <a:solidFill>
            <a:srgbClr val="D9A441"/>
          </a:solidFill>
          <a:ln/>
        </p:spPr>
        <p:txBody>
          <a:bodyPr/>
          <a:lstStyle/>
          <a:p>
            <a:endParaRPr lang="en-US"/>
          </a:p>
        </p:txBody>
      </p:sp>
      <p:pic>
        <p:nvPicPr>
          <p:cNvPr id="11" name="Image 1" descr="/home/claude/proj/icons/bullseye_white.png"/>
          <p:cNvPicPr>
            <a:picLocks noChangeAspect="1"/>
          </p:cNvPicPr>
          <p:nvPr/>
        </p:nvPicPr>
        <p:blipFill>
          <a:blip r:embed="rId4"/>
          <a:stretch>
            <a:fillRect/>
          </a:stretch>
        </p:blipFill>
        <p:spPr>
          <a:xfrm>
            <a:off x="6649517" y="2031797"/>
            <a:ext cx="416966" cy="416966"/>
          </a:xfrm>
          <a:prstGeom prst="rect">
            <a:avLst/>
          </a:prstGeom>
        </p:spPr>
      </p:pic>
      <p:sp>
        <p:nvSpPr>
          <p:cNvPr id="12" name="Text 8"/>
          <p:cNvSpPr/>
          <p:nvPr/>
        </p:nvSpPr>
        <p:spPr>
          <a:xfrm>
            <a:off x="7287768" y="2011680"/>
            <a:ext cx="420624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Our Objective</a:t>
            </a:r>
            <a:endParaRPr lang="en-US" sz="1600" dirty="0"/>
          </a:p>
        </p:txBody>
      </p:sp>
      <p:sp>
        <p:nvSpPr>
          <p:cNvPr id="13" name="Text 9"/>
          <p:cNvSpPr/>
          <p:nvPr/>
        </p:nvSpPr>
        <p:spPr>
          <a:xfrm>
            <a:off x="6583680" y="2697480"/>
            <a:ext cx="4846320" cy="2286000"/>
          </a:xfrm>
          <a:prstGeom prst="rect">
            <a:avLst/>
          </a:prstGeom>
          <a:noFill/>
          <a:ln/>
        </p:spPr>
        <p:txBody>
          <a:bodyPr wrap="square" rtlCol="0" anchor="ctr"/>
          <a:lstStyle/>
          <a:p>
            <a:pPr marL="0" indent="0">
              <a:lnSpc>
                <a:spcPct val="125000"/>
              </a:lnSpc>
              <a:buNone/>
            </a:pPr>
            <a:r>
              <a:rPr lang="en-US" sz="1400" dirty="0">
                <a:solidFill>
                  <a:srgbClr val="E7F0DE"/>
                </a:solidFill>
                <a:latin typeface="Calibri" pitchFamily="34" charset="0"/>
                <a:ea typeface="Calibri" pitchFamily="34" charset="-122"/>
                <a:cs typeface="Calibri" pitchFamily="34" charset="-120"/>
              </a:rPr>
              <a:t>Turn a real, 19,572-record agricultural dataset into a complete Smart Agriculture solution — cleaned data, a storytelling dashboard, and a deployed AI model that predicts crop yield and recommends concrete actions, accessible through a mobile app and web tool.</a:t>
            </a:r>
            <a:endParaRPr lang="en-US" sz="1400" dirty="0"/>
          </a:p>
        </p:txBody>
      </p:sp>
      <p:sp>
        <p:nvSpPr>
          <p:cNvPr id="14" name="Text 10"/>
          <p:cNvSpPr/>
          <p:nvPr/>
        </p:nvSpPr>
        <p:spPr>
          <a:xfrm>
            <a:off x="6583680" y="5074920"/>
            <a:ext cx="1508760" cy="502920"/>
          </a:xfrm>
          <a:prstGeom prst="rect">
            <a:avLst/>
          </a:prstGeom>
          <a:noFill/>
          <a:ln/>
        </p:spPr>
        <p:txBody>
          <a:bodyPr wrap="square" rtlCol="0" anchor="ctr"/>
          <a:lstStyle/>
          <a:p>
            <a:pPr marL="0" indent="0" algn="l">
              <a:buNone/>
            </a:pPr>
            <a:r>
              <a:rPr lang="en-US" sz="2600" b="1" dirty="0">
                <a:solidFill>
                  <a:srgbClr val="D9A441"/>
                </a:solidFill>
                <a:latin typeface="Cambria" pitchFamily="34" charset="0"/>
                <a:ea typeface="Cambria" pitchFamily="34" charset="-122"/>
                <a:cs typeface="Cambria" pitchFamily="34" charset="-120"/>
              </a:rPr>
              <a:t>19,572</a:t>
            </a:r>
            <a:endParaRPr lang="en-US" sz="2600" dirty="0"/>
          </a:p>
        </p:txBody>
      </p:sp>
      <p:sp>
        <p:nvSpPr>
          <p:cNvPr id="15" name="Text 11"/>
          <p:cNvSpPr/>
          <p:nvPr/>
        </p:nvSpPr>
        <p:spPr>
          <a:xfrm>
            <a:off x="6583680" y="5577840"/>
            <a:ext cx="1508760" cy="365760"/>
          </a:xfrm>
          <a:prstGeom prst="rect">
            <a:avLst/>
          </a:prstGeom>
          <a:noFill/>
          <a:ln/>
        </p:spPr>
        <p:txBody>
          <a:bodyPr wrap="square" rtlCol="0" anchor="ctr"/>
          <a:lstStyle/>
          <a:p>
            <a:pPr marL="0" indent="0">
              <a:buNone/>
            </a:pPr>
            <a:r>
              <a:rPr lang="en-US" sz="1050" dirty="0">
                <a:solidFill>
                  <a:srgbClr val="E7F0DE"/>
                </a:solidFill>
                <a:latin typeface="Calibri" pitchFamily="34" charset="0"/>
                <a:ea typeface="Calibri" pitchFamily="34" charset="-122"/>
                <a:cs typeface="Calibri" pitchFamily="34" charset="-120"/>
              </a:rPr>
              <a:t>Records</a:t>
            </a:r>
            <a:endParaRPr lang="en-US" sz="1050" dirty="0"/>
          </a:p>
        </p:txBody>
      </p:sp>
      <p:sp>
        <p:nvSpPr>
          <p:cNvPr id="16" name="Text 12"/>
          <p:cNvSpPr/>
          <p:nvPr/>
        </p:nvSpPr>
        <p:spPr>
          <a:xfrm>
            <a:off x="8183880" y="5074920"/>
            <a:ext cx="1508760" cy="502920"/>
          </a:xfrm>
          <a:prstGeom prst="rect">
            <a:avLst/>
          </a:prstGeom>
          <a:noFill/>
          <a:ln/>
        </p:spPr>
        <p:txBody>
          <a:bodyPr wrap="square" rtlCol="0" anchor="ctr"/>
          <a:lstStyle/>
          <a:p>
            <a:pPr marL="0" indent="0" algn="l">
              <a:buNone/>
            </a:pPr>
            <a:r>
              <a:rPr lang="en-US" sz="2600" b="1" dirty="0">
                <a:solidFill>
                  <a:srgbClr val="D9A441"/>
                </a:solidFill>
                <a:latin typeface="Cambria" pitchFamily="34" charset="0"/>
                <a:ea typeface="Cambria" pitchFamily="34" charset="-122"/>
                <a:cs typeface="Cambria" pitchFamily="34" charset="-120"/>
              </a:rPr>
              <a:t>16</a:t>
            </a:r>
            <a:endParaRPr lang="en-US" sz="2600" dirty="0"/>
          </a:p>
        </p:txBody>
      </p:sp>
      <p:sp>
        <p:nvSpPr>
          <p:cNvPr id="17" name="Text 13"/>
          <p:cNvSpPr/>
          <p:nvPr/>
        </p:nvSpPr>
        <p:spPr>
          <a:xfrm>
            <a:off x="8183880" y="5577840"/>
            <a:ext cx="1508760" cy="365760"/>
          </a:xfrm>
          <a:prstGeom prst="rect">
            <a:avLst/>
          </a:prstGeom>
          <a:noFill/>
          <a:ln/>
        </p:spPr>
        <p:txBody>
          <a:bodyPr wrap="square" rtlCol="0" anchor="ctr"/>
          <a:lstStyle/>
          <a:p>
            <a:pPr marL="0" indent="0">
              <a:buNone/>
            </a:pPr>
            <a:r>
              <a:rPr lang="en-US" sz="1050" dirty="0">
                <a:solidFill>
                  <a:srgbClr val="E7F0DE"/>
                </a:solidFill>
                <a:latin typeface="Calibri" pitchFamily="34" charset="0"/>
                <a:ea typeface="Calibri" pitchFamily="34" charset="-122"/>
                <a:cs typeface="Calibri" pitchFamily="34" charset="-120"/>
              </a:rPr>
              <a:t>Variables</a:t>
            </a:r>
            <a:endParaRPr lang="en-US" sz="1050" dirty="0"/>
          </a:p>
        </p:txBody>
      </p:sp>
      <p:sp>
        <p:nvSpPr>
          <p:cNvPr id="18" name="Text 14"/>
          <p:cNvSpPr/>
          <p:nvPr/>
        </p:nvSpPr>
        <p:spPr>
          <a:xfrm>
            <a:off x="9784080" y="5074920"/>
            <a:ext cx="1508760" cy="502920"/>
          </a:xfrm>
          <a:prstGeom prst="rect">
            <a:avLst/>
          </a:prstGeom>
          <a:noFill/>
          <a:ln/>
        </p:spPr>
        <p:txBody>
          <a:bodyPr wrap="square" rtlCol="0" anchor="ctr"/>
          <a:lstStyle/>
          <a:p>
            <a:pPr marL="0" indent="0" algn="l">
              <a:buNone/>
            </a:pPr>
            <a:r>
              <a:rPr lang="en-US" sz="2600" b="1" dirty="0">
                <a:solidFill>
                  <a:srgbClr val="D9A441"/>
                </a:solidFill>
                <a:latin typeface="Cambria" pitchFamily="34" charset="0"/>
                <a:ea typeface="Cambria" pitchFamily="34" charset="-122"/>
                <a:cs typeface="Cambria" pitchFamily="34" charset="-120"/>
              </a:rPr>
              <a:t>2</a:t>
            </a:r>
            <a:endParaRPr lang="en-US" sz="2600" dirty="0"/>
          </a:p>
        </p:txBody>
      </p:sp>
      <p:sp>
        <p:nvSpPr>
          <p:cNvPr id="19" name="Text 15"/>
          <p:cNvSpPr/>
          <p:nvPr/>
        </p:nvSpPr>
        <p:spPr>
          <a:xfrm>
            <a:off x="9784080" y="5577840"/>
            <a:ext cx="1508760" cy="365760"/>
          </a:xfrm>
          <a:prstGeom prst="rect">
            <a:avLst/>
          </a:prstGeom>
          <a:noFill/>
          <a:ln/>
        </p:spPr>
        <p:txBody>
          <a:bodyPr wrap="square" rtlCol="0" anchor="ctr"/>
          <a:lstStyle/>
          <a:p>
            <a:pPr marL="0" indent="0">
              <a:buNone/>
            </a:pPr>
            <a:r>
              <a:rPr lang="en-US" sz="1050" dirty="0">
                <a:solidFill>
                  <a:srgbClr val="E7F0DE"/>
                </a:solidFill>
                <a:latin typeface="Calibri" pitchFamily="34" charset="0"/>
                <a:ea typeface="Calibri" pitchFamily="34" charset="-122"/>
                <a:cs typeface="Calibri" pitchFamily="34" charset="-120"/>
              </a:rPr>
              <a:t>Deployment Channels</a:t>
            </a:r>
            <a:endParaRPr lang="en-US" sz="1050" dirty="0"/>
          </a:p>
        </p:txBody>
      </p:sp>
      <p:sp>
        <p:nvSpPr>
          <p:cNvPr id="20" name="Text 1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21" name="Text 17"/>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749808"/>
            <a:ext cx="10972800" cy="640080"/>
          </a:xfrm>
          <a:prstGeom prst="rect">
            <a:avLst/>
          </a:prstGeom>
          <a:noFill/>
          <a:ln/>
        </p:spPr>
        <p:txBody>
          <a:bodyPr wrap="square" rtlCol="0" anchor="ctr"/>
          <a:lstStyle/>
          <a:p>
            <a:pPr marL="0" indent="0">
              <a:buNone/>
            </a:pPr>
            <a:r>
              <a:rPr lang="en-US" sz="3200" b="1" dirty="0">
                <a:solidFill>
                  <a:srgbClr val="1A2E22"/>
                </a:solidFill>
                <a:latin typeface="Cambria" pitchFamily="34" charset="0"/>
                <a:ea typeface="Cambria" pitchFamily="34" charset="-122"/>
                <a:cs typeface="Cambria" pitchFamily="34" charset="-120"/>
              </a:rPr>
              <a:t>The Data Behind the Decisions</a:t>
            </a:r>
            <a:endParaRPr lang="en-US" sz="3200" dirty="0"/>
          </a:p>
        </p:txBody>
      </p:sp>
      <p:sp>
        <p:nvSpPr>
          <p:cNvPr id="4" name="Text 2"/>
          <p:cNvSpPr/>
          <p:nvPr/>
        </p:nvSpPr>
        <p:spPr>
          <a:xfrm>
            <a:off x="548640" y="1325880"/>
            <a:ext cx="10515600" cy="365760"/>
          </a:xfrm>
          <a:prstGeom prst="rect">
            <a:avLst/>
          </a:prstGeom>
          <a:noFill/>
          <a:ln/>
        </p:spPr>
        <p:txBody>
          <a:bodyPr wrap="square" rtlCol="0" anchor="ctr"/>
          <a:lstStyle/>
          <a:p>
            <a:pPr marL="0" indent="0">
              <a:buNone/>
            </a:pPr>
            <a:r>
              <a:rPr lang="en-US" sz="1350" dirty="0">
                <a:solidFill>
                  <a:srgbClr val="5B6B60"/>
                </a:solidFill>
                <a:latin typeface="Calibri" pitchFamily="34" charset="0"/>
                <a:ea typeface="Calibri" pitchFamily="34" charset="-122"/>
                <a:cs typeface="Calibri" pitchFamily="34" charset="-120"/>
              </a:rPr>
              <a:t>A real agricultural dataset sourced from Kaggle, covering multiple states, crops, seasons and years.</a:t>
            </a:r>
            <a:endParaRPr lang="en-US" sz="1350" dirty="0"/>
          </a:p>
        </p:txBody>
      </p:sp>
      <p:sp>
        <p:nvSpPr>
          <p:cNvPr id="5" name="Shape 3"/>
          <p:cNvSpPr/>
          <p:nvPr/>
        </p:nvSpPr>
        <p:spPr>
          <a:xfrm>
            <a:off x="548640" y="1965960"/>
            <a:ext cx="2697480" cy="3246120"/>
          </a:xfrm>
          <a:prstGeom prst="roundRect">
            <a:avLst>
              <a:gd name="adj" fmla="val 3390"/>
            </a:avLst>
          </a:prstGeom>
          <a:solidFill>
            <a:srgbClr val="F4F7F1"/>
          </a:solidFill>
          <a:ln/>
        </p:spPr>
        <p:txBody>
          <a:bodyPr/>
          <a:lstStyle/>
          <a:p>
            <a:endParaRPr lang="en-US"/>
          </a:p>
        </p:txBody>
      </p:sp>
      <p:sp>
        <p:nvSpPr>
          <p:cNvPr id="6" name="Shape 4"/>
          <p:cNvSpPr/>
          <p:nvPr/>
        </p:nvSpPr>
        <p:spPr>
          <a:xfrm>
            <a:off x="1577340" y="2212848"/>
            <a:ext cx="640080" cy="640080"/>
          </a:xfrm>
          <a:prstGeom prst="ellipse">
            <a:avLst/>
          </a:prstGeom>
          <a:solidFill>
            <a:srgbClr val="1F3D2C"/>
          </a:solidFill>
          <a:ln/>
        </p:spPr>
        <p:txBody>
          <a:bodyPr/>
          <a:lstStyle/>
          <a:p>
            <a:endParaRPr lang="en-US"/>
          </a:p>
        </p:txBody>
      </p:sp>
      <p:pic>
        <p:nvPicPr>
          <p:cNvPr id="7" name="Image 0" descr="/home/claude/proj/icons/tint_white.png"/>
          <p:cNvPicPr>
            <a:picLocks noChangeAspect="1"/>
          </p:cNvPicPr>
          <p:nvPr/>
        </p:nvPicPr>
        <p:blipFill>
          <a:blip r:embed="rId3"/>
          <a:stretch>
            <a:fillRect/>
          </a:stretch>
        </p:blipFill>
        <p:spPr>
          <a:xfrm>
            <a:off x="1654150" y="2289658"/>
            <a:ext cx="486461" cy="486461"/>
          </a:xfrm>
          <a:prstGeom prst="rect">
            <a:avLst/>
          </a:prstGeom>
        </p:spPr>
      </p:pic>
      <p:sp>
        <p:nvSpPr>
          <p:cNvPr id="8" name="Text 5"/>
          <p:cNvSpPr/>
          <p:nvPr/>
        </p:nvSpPr>
        <p:spPr>
          <a:xfrm>
            <a:off x="685800" y="2999232"/>
            <a:ext cx="2423160" cy="502920"/>
          </a:xfrm>
          <a:prstGeom prst="rect">
            <a:avLst/>
          </a:prstGeom>
          <a:noFill/>
          <a:ln/>
        </p:spPr>
        <p:txBody>
          <a:bodyPr wrap="square" rtlCol="0" anchor="ctr"/>
          <a:lstStyle/>
          <a:p>
            <a:pPr marL="0" indent="0" algn="ctr">
              <a:buNone/>
            </a:pPr>
            <a:r>
              <a:rPr lang="en-US" sz="1400" b="1" dirty="0">
                <a:solidFill>
                  <a:srgbClr val="1A2E22"/>
                </a:solidFill>
                <a:latin typeface="Calibri" pitchFamily="34" charset="0"/>
                <a:ea typeface="Calibri" pitchFamily="34" charset="-122"/>
                <a:cs typeface="Calibri" pitchFamily="34" charset="-120"/>
              </a:rPr>
              <a:t>Soil Chemistry</a:t>
            </a:r>
            <a:endParaRPr lang="en-US" sz="1400" dirty="0"/>
          </a:p>
        </p:txBody>
      </p:sp>
      <p:sp>
        <p:nvSpPr>
          <p:cNvPr id="9" name="Text 6"/>
          <p:cNvSpPr/>
          <p:nvPr/>
        </p:nvSpPr>
        <p:spPr>
          <a:xfrm>
            <a:off x="777240" y="3520440"/>
            <a:ext cx="2240280" cy="1554480"/>
          </a:xfrm>
          <a:prstGeom prst="rect">
            <a:avLst/>
          </a:prstGeom>
          <a:noFill/>
          <a:ln/>
        </p:spPr>
        <p:txBody>
          <a:bodyPr wrap="square" rtlCol="0" anchor="ctr"/>
          <a:lstStyle/>
          <a:p>
            <a:pPr marL="0" indent="0" algn="ctr">
              <a:lnSpc>
                <a:spcPct val="120000"/>
              </a:lnSpc>
              <a:buNone/>
            </a:pPr>
            <a:r>
              <a:rPr lang="en-US" sz="1150" dirty="0">
                <a:solidFill>
                  <a:srgbClr val="5B6B60"/>
                </a:solidFill>
                <a:latin typeface="Calibri" pitchFamily="34" charset="0"/>
                <a:ea typeface="Calibri" pitchFamily="34" charset="-122"/>
                <a:cs typeface="Calibri" pitchFamily="34" charset="-120"/>
              </a:rPr>
              <a:t>Nitrogen (N), Phosphorus (P), Potassium (K), pH</a:t>
            </a:r>
            <a:endParaRPr lang="en-US" sz="1150" dirty="0"/>
          </a:p>
        </p:txBody>
      </p:sp>
      <p:sp>
        <p:nvSpPr>
          <p:cNvPr id="10" name="Shape 7"/>
          <p:cNvSpPr/>
          <p:nvPr/>
        </p:nvSpPr>
        <p:spPr>
          <a:xfrm>
            <a:off x="3474720" y="1965960"/>
            <a:ext cx="2697480" cy="3246120"/>
          </a:xfrm>
          <a:prstGeom prst="roundRect">
            <a:avLst>
              <a:gd name="adj" fmla="val 3390"/>
            </a:avLst>
          </a:prstGeom>
          <a:solidFill>
            <a:srgbClr val="F4F7F1"/>
          </a:solidFill>
          <a:ln/>
        </p:spPr>
        <p:txBody>
          <a:bodyPr/>
          <a:lstStyle/>
          <a:p>
            <a:endParaRPr lang="en-US"/>
          </a:p>
        </p:txBody>
      </p:sp>
      <p:sp>
        <p:nvSpPr>
          <p:cNvPr id="11" name="Shape 8"/>
          <p:cNvSpPr/>
          <p:nvPr/>
        </p:nvSpPr>
        <p:spPr>
          <a:xfrm>
            <a:off x="4503420" y="2212848"/>
            <a:ext cx="640080" cy="640080"/>
          </a:xfrm>
          <a:prstGeom prst="ellipse">
            <a:avLst/>
          </a:prstGeom>
          <a:solidFill>
            <a:srgbClr val="1F3D2C"/>
          </a:solidFill>
          <a:ln/>
        </p:spPr>
        <p:txBody>
          <a:bodyPr/>
          <a:lstStyle/>
          <a:p>
            <a:endParaRPr lang="en-US"/>
          </a:p>
        </p:txBody>
      </p:sp>
      <p:pic>
        <p:nvPicPr>
          <p:cNvPr id="12" name="Image 1" descr="/home/claude/proj/icons/cloudrain_white.png"/>
          <p:cNvPicPr>
            <a:picLocks noChangeAspect="1"/>
          </p:cNvPicPr>
          <p:nvPr/>
        </p:nvPicPr>
        <p:blipFill>
          <a:blip r:embed="rId4"/>
          <a:stretch>
            <a:fillRect/>
          </a:stretch>
        </p:blipFill>
        <p:spPr>
          <a:xfrm>
            <a:off x="4580230" y="2289658"/>
            <a:ext cx="486461" cy="486461"/>
          </a:xfrm>
          <a:prstGeom prst="rect">
            <a:avLst/>
          </a:prstGeom>
        </p:spPr>
      </p:pic>
      <p:sp>
        <p:nvSpPr>
          <p:cNvPr id="13" name="Text 9"/>
          <p:cNvSpPr/>
          <p:nvPr/>
        </p:nvSpPr>
        <p:spPr>
          <a:xfrm>
            <a:off x="3611880" y="2999232"/>
            <a:ext cx="2423160" cy="502920"/>
          </a:xfrm>
          <a:prstGeom prst="rect">
            <a:avLst/>
          </a:prstGeom>
          <a:noFill/>
          <a:ln/>
        </p:spPr>
        <p:txBody>
          <a:bodyPr wrap="square" rtlCol="0" anchor="ctr"/>
          <a:lstStyle/>
          <a:p>
            <a:pPr marL="0" indent="0" algn="ctr">
              <a:buNone/>
            </a:pPr>
            <a:r>
              <a:rPr lang="en-US" sz="1400" b="1" dirty="0">
                <a:solidFill>
                  <a:srgbClr val="1A2E22"/>
                </a:solidFill>
                <a:latin typeface="Calibri" pitchFamily="34" charset="0"/>
                <a:ea typeface="Calibri" pitchFamily="34" charset="-122"/>
                <a:cs typeface="Calibri" pitchFamily="34" charset="-120"/>
              </a:rPr>
              <a:t>Climate Conditions</a:t>
            </a:r>
            <a:endParaRPr lang="en-US" sz="1400" dirty="0"/>
          </a:p>
        </p:txBody>
      </p:sp>
      <p:sp>
        <p:nvSpPr>
          <p:cNvPr id="14" name="Text 10"/>
          <p:cNvSpPr/>
          <p:nvPr/>
        </p:nvSpPr>
        <p:spPr>
          <a:xfrm>
            <a:off x="3703320" y="3520440"/>
            <a:ext cx="2240280" cy="1554480"/>
          </a:xfrm>
          <a:prstGeom prst="rect">
            <a:avLst/>
          </a:prstGeom>
          <a:noFill/>
          <a:ln/>
        </p:spPr>
        <p:txBody>
          <a:bodyPr wrap="square" rtlCol="0" anchor="ctr"/>
          <a:lstStyle/>
          <a:p>
            <a:pPr marL="0" indent="0" algn="ctr">
              <a:lnSpc>
                <a:spcPct val="120000"/>
              </a:lnSpc>
              <a:buNone/>
            </a:pPr>
            <a:r>
              <a:rPr lang="en-US" sz="1150" dirty="0">
                <a:solidFill>
                  <a:srgbClr val="5B6B60"/>
                </a:solidFill>
                <a:latin typeface="Calibri" pitchFamily="34" charset="0"/>
                <a:ea typeface="Calibri" pitchFamily="34" charset="-122"/>
                <a:cs typeface="Calibri" pitchFamily="34" charset="-120"/>
              </a:rPr>
              <a:t>Average Temperature, Total Rainfall, Average Humidity</a:t>
            </a:r>
            <a:endParaRPr lang="en-US" sz="1150" dirty="0"/>
          </a:p>
        </p:txBody>
      </p:sp>
      <p:sp>
        <p:nvSpPr>
          <p:cNvPr id="15" name="Shape 11"/>
          <p:cNvSpPr/>
          <p:nvPr/>
        </p:nvSpPr>
        <p:spPr>
          <a:xfrm>
            <a:off x="6400800" y="1965960"/>
            <a:ext cx="2697480" cy="3246120"/>
          </a:xfrm>
          <a:prstGeom prst="roundRect">
            <a:avLst>
              <a:gd name="adj" fmla="val 3390"/>
            </a:avLst>
          </a:prstGeom>
          <a:solidFill>
            <a:srgbClr val="F4F7F1"/>
          </a:solidFill>
          <a:ln/>
        </p:spPr>
        <p:txBody>
          <a:bodyPr/>
          <a:lstStyle/>
          <a:p>
            <a:endParaRPr lang="en-US"/>
          </a:p>
        </p:txBody>
      </p:sp>
      <p:sp>
        <p:nvSpPr>
          <p:cNvPr id="16" name="Shape 12"/>
          <p:cNvSpPr/>
          <p:nvPr/>
        </p:nvSpPr>
        <p:spPr>
          <a:xfrm>
            <a:off x="7429500" y="2212848"/>
            <a:ext cx="640080" cy="640080"/>
          </a:xfrm>
          <a:prstGeom prst="ellipse">
            <a:avLst/>
          </a:prstGeom>
          <a:solidFill>
            <a:srgbClr val="1F3D2C"/>
          </a:solidFill>
          <a:ln/>
        </p:spPr>
        <p:txBody>
          <a:bodyPr/>
          <a:lstStyle/>
          <a:p>
            <a:endParaRPr lang="en-US"/>
          </a:p>
        </p:txBody>
      </p:sp>
      <p:pic>
        <p:nvPicPr>
          <p:cNvPr id="17" name="Image 2" descr="/home/claude/proj/icons/map_white.png"/>
          <p:cNvPicPr>
            <a:picLocks noChangeAspect="1"/>
          </p:cNvPicPr>
          <p:nvPr/>
        </p:nvPicPr>
        <p:blipFill>
          <a:blip r:embed="rId5"/>
          <a:stretch>
            <a:fillRect/>
          </a:stretch>
        </p:blipFill>
        <p:spPr>
          <a:xfrm>
            <a:off x="7506310" y="2289658"/>
            <a:ext cx="486461" cy="486461"/>
          </a:xfrm>
          <a:prstGeom prst="rect">
            <a:avLst/>
          </a:prstGeom>
        </p:spPr>
      </p:pic>
      <p:sp>
        <p:nvSpPr>
          <p:cNvPr id="18" name="Text 13"/>
          <p:cNvSpPr/>
          <p:nvPr/>
        </p:nvSpPr>
        <p:spPr>
          <a:xfrm>
            <a:off x="6537960" y="2999232"/>
            <a:ext cx="2423160" cy="502920"/>
          </a:xfrm>
          <a:prstGeom prst="rect">
            <a:avLst/>
          </a:prstGeom>
          <a:noFill/>
          <a:ln/>
        </p:spPr>
        <p:txBody>
          <a:bodyPr wrap="square" rtlCol="0" anchor="ctr"/>
          <a:lstStyle/>
          <a:p>
            <a:pPr marL="0" indent="0" algn="ctr">
              <a:buNone/>
            </a:pPr>
            <a:r>
              <a:rPr lang="en-US" sz="1400" b="1" dirty="0">
                <a:solidFill>
                  <a:srgbClr val="1A2E22"/>
                </a:solidFill>
                <a:latin typeface="Calibri" pitchFamily="34" charset="0"/>
                <a:ea typeface="Calibri" pitchFamily="34" charset="-122"/>
                <a:cs typeface="Calibri" pitchFamily="34" charset="-120"/>
              </a:rPr>
              <a:t>Farming Context</a:t>
            </a:r>
            <a:endParaRPr lang="en-US" sz="1400" dirty="0"/>
          </a:p>
        </p:txBody>
      </p:sp>
      <p:sp>
        <p:nvSpPr>
          <p:cNvPr id="19" name="Text 14"/>
          <p:cNvSpPr/>
          <p:nvPr/>
        </p:nvSpPr>
        <p:spPr>
          <a:xfrm>
            <a:off x="6629400" y="3520440"/>
            <a:ext cx="2240280" cy="1554480"/>
          </a:xfrm>
          <a:prstGeom prst="rect">
            <a:avLst/>
          </a:prstGeom>
          <a:noFill/>
          <a:ln/>
        </p:spPr>
        <p:txBody>
          <a:bodyPr wrap="square" rtlCol="0" anchor="ctr"/>
          <a:lstStyle/>
          <a:p>
            <a:pPr marL="0" indent="0" algn="ctr">
              <a:lnSpc>
                <a:spcPct val="120000"/>
              </a:lnSpc>
              <a:buNone/>
            </a:pPr>
            <a:r>
              <a:rPr lang="en-US" sz="1150" dirty="0">
                <a:solidFill>
                  <a:srgbClr val="5B6B60"/>
                </a:solidFill>
                <a:latin typeface="Calibri" pitchFamily="34" charset="0"/>
                <a:ea typeface="Calibri" pitchFamily="34" charset="-122"/>
                <a:cs typeface="Calibri" pitchFamily="34" charset="-120"/>
              </a:rPr>
              <a:t>State, Crop, Season, Year</a:t>
            </a:r>
            <a:endParaRPr lang="en-US" sz="1150" dirty="0"/>
          </a:p>
        </p:txBody>
      </p:sp>
      <p:sp>
        <p:nvSpPr>
          <p:cNvPr id="20" name="Shape 15"/>
          <p:cNvSpPr/>
          <p:nvPr/>
        </p:nvSpPr>
        <p:spPr>
          <a:xfrm>
            <a:off x="9326880" y="1965960"/>
            <a:ext cx="2697480" cy="3246120"/>
          </a:xfrm>
          <a:prstGeom prst="roundRect">
            <a:avLst>
              <a:gd name="adj" fmla="val 3390"/>
            </a:avLst>
          </a:prstGeom>
          <a:solidFill>
            <a:srgbClr val="F4F7F1"/>
          </a:solidFill>
          <a:ln/>
        </p:spPr>
        <p:txBody>
          <a:bodyPr/>
          <a:lstStyle/>
          <a:p>
            <a:endParaRPr lang="en-US"/>
          </a:p>
        </p:txBody>
      </p:sp>
      <p:sp>
        <p:nvSpPr>
          <p:cNvPr id="21" name="Shape 16"/>
          <p:cNvSpPr/>
          <p:nvPr/>
        </p:nvSpPr>
        <p:spPr>
          <a:xfrm>
            <a:off x="10355580" y="2212848"/>
            <a:ext cx="640080" cy="640080"/>
          </a:xfrm>
          <a:prstGeom prst="ellipse">
            <a:avLst/>
          </a:prstGeom>
          <a:solidFill>
            <a:srgbClr val="1F3D2C"/>
          </a:solidFill>
          <a:ln/>
        </p:spPr>
        <p:txBody>
          <a:bodyPr/>
          <a:lstStyle/>
          <a:p>
            <a:endParaRPr lang="en-US"/>
          </a:p>
        </p:txBody>
      </p:sp>
      <p:pic>
        <p:nvPicPr>
          <p:cNvPr id="22" name="Image 3" descr="/home/claude/proj/icons/chartpie_white.png"/>
          <p:cNvPicPr>
            <a:picLocks noChangeAspect="1"/>
          </p:cNvPicPr>
          <p:nvPr/>
        </p:nvPicPr>
        <p:blipFill>
          <a:blip r:embed="rId6"/>
          <a:stretch>
            <a:fillRect/>
          </a:stretch>
        </p:blipFill>
        <p:spPr>
          <a:xfrm>
            <a:off x="10432390" y="2289658"/>
            <a:ext cx="486461" cy="486461"/>
          </a:xfrm>
          <a:prstGeom prst="rect">
            <a:avLst/>
          </a:prstGeom>
        </p:spPr>
      </p:pic>
      <p:sp>
        <p:nvSpPr>
          <p:cNvPr id="23" name="Text 17"/>
          <p:cNvSpPr/>
          <p:nvPr/>
        </p:nvSpPr>
        <p:spPr>
          <a:xfrm>
            <a:off x="9464040" y="2999232"/>
            <a:ext cx="2423160" cy="502920"/>
          </a:xfrm>
          <a:prstGeom prst="rect">
            <a:avLst/>
          </a:prstGeom>
          <a:noFill/>
          <a:ln/>
        </p:spPr>
        <p:txBody>
          <a:bodyPr wrap="square" rtlCol="0" anchor="ctr"/>
          <a:lstStyle/>
          <a:p>
            <a:pPr marL="0" indent="0" algn="ctr">
              <a:buNone/>
            </a:pPr>
            <a:r>
              <a:rPr lang="en-US" sz="1400" b="1" dirty="0">
                <a:solidFill>
                  <a:srgbClr val="1A2E22"/>
                </a:solidFill>
                <a:latin typeface="Calibri" pitchFamily="34" charset="0"/>
                <a:ea typeface="Calibri" pitchFamily="34" charset="-122"/>
                <a:cs typeface="Calibri" pitchFamily="34" charset="-120"/>
              </a:rPr>
              <a:t>Inputs &amp; Outcome</a:t>
            </a:r>
            <a:endParaRPr lang="en-US" sz="1400" dirty="0"/>
          </a:p>
        </p:txBody>
      </p:sp>
      <p:sp>
        <p:nvSpPr>
          <p:cNvPr id="24" name="Text 18"/>
          <p:cNvSpPr/>
          <p:nvPr/>
        </p:nvSpPr>
        <p:spPr>
          <a:xfrm>
            <a:off x="9555480" y="3520440"/>
            <a:ext cx="2240280" cy="1554480"/>
          </a:xfrm>
          <a:prstGeom prst="rect">
            <a:avLst/>
          </a:prstGeom>
          <a:noFill/>
          <a:ln/>
        </p:spPr>
        <p:txBody>
          <a:bodyPr wrap="square" rtlCol="0" anchor="ctr"/>
          <a:lstStyle/>
          <a:p>
            <a:pPr marL="0" indent="0" algn="ctr">
              <a:lnSpc>
                <a:spcPct val="120000"/>
              </a:lnSpc>
              <a:buNone/>
            </a:pPr>
            <a:r>
              <a:rPr lang="en-US" sz="1150" dirty="0">
                <a:solidFill>
                  <a:srgbClr val="5B6B60"/>
                </a:solidFill>
                <a:latin typeface="Calibri" pitchFamily="34" charset="0"/>
                <a:ea typeface="Calibri" pitchFamily="34" charset="-122"/>
                <a:cs typeface="Calibri" pitchFamily="34" charset="-120"/>
              </a:rPr>
              <a:t>Area, Fertilizer, Pesticide, Production, Yield</a:t>
            </a:r>
            <a:endParaRPr lang="en-US" sz="1150" dirty="0"/>
          </a:p>
        </p:txBody>
      </p:sp>
      <p:sp>
        <p:nvSpPr>
          <p:cNvPr id="25" name="Text 19"/>
          <p:cNvSpPr/>
          <p:nvPr/>
        </p:nvSpPr>
        <p:spPr>
          <a:xfrm>
            <a:off x="548640" y="5440680"/>
            <a:ext cx="3474720" cy="457200"/>
          </a:xfrm>
          <a:prstGeom prst="rect">
            <a:avLst/>
          </a:prstGeom>
          <a:noFill/>
          <a:ln/>
        </p:spPr>
        <p:txBody>
          <a:bodyPr wrap="square" rtlCol="0" anchor="ctr"/>
          <a:lstStyle/>
          <a:p>
            <a:pPr marL="0" indent="0">
              <a:buNone/>
            </a:pPr>
            <a:r>
              <a:rPr lang="en-US" sz="2200" b="1" dirty="0">
                <a:solidFill>
                  <a:srgbClr val="1F3D2C"/>
                </a:solidFill>
                <a:latin typeface="Cambria" pitchFamily="34" charset="0"/>
                <a:ea typeface="Cambria" pitchFamily="34" charset="-122"/>
                <a:cs typeface="Cambria" pitchFamily="34" charset="-120"/>
              </a:rPr>
              <a:t>19,572</a:t>
            </a:r>
            <a:endParaRPr lang="en-US" sz="2200" dirty="0"/>
          </a:p>
        </p:txBody>
      </p:sp>
      <p:sp>
        <p:nvSpPr>
          <p:cNvPr id="26" name="Text 20"/>
          <p:cNvSpPr/>
          <p:nvPr/>
        </p:nvSpPr>
        <p:spPr>
          <a:xfrm>
            <a:off x="548640" y="5897880"/>
            <a:ext cx="3474720" cy="320040"/>
          </a:xfrm>
          <a:prstGeom prst="rect">
            <a:avLst/>
          </a:prstGeom>
          <a:noFill/>
          <a:ln/>
        </p:spPr>
        <p:txBody>
          <a:bodyPr wrap="square" rtlCol="0" anchor="ctr"/>
          <a:lstStyle/>
          <a:p>
            <a:pPr marL="0" indent="0">
              <a:buNone/>
            </a:pPr>
            <a:r>
              <a:rPr lang="en-US" sz="1100" dirty="0">
                <a:solidFill>
                  <a:srgbClr val="5B6B60"/>
                </a:solidFill>
                <a:latin typeface="Calibri" pitchFamily="34" charset="0"/>
                <a:ea typeface="Calibri" pitchFamily="34" charset="-122"/>
                <a:cs typeface="Calibri" pitchFamily="34" charset="-120"/>
              </a:rPr>
              <a:t>Rows</a:t>
            </a:r>
            <a:endParaRPr lang="en-US" sz="1100" dirty="0"/>
          </a:p>
        </p:txBody>
      </p:sp>
      <p:sp>
        <p:nvSpPr>
          <p:cNvPr id="27" name="Text 21"/>
          <p:cNvSpPr/>
          <p:nvPr/>
        </p:nvSpPr>
        <p:spPr>
          <a:xfrm>
            <a:off x="4251960" y="5440680"/>
            <a:ext cx="3474720" cy="457200"/>
          </a:xfrm>
          <a:prstGeom prst="rect">
            <a:avLst/>
          </a:prstGeom>
          <a:noFill/>
          <a:ln/>
        </p:spPr>
        <p:txBody>
          <a:bodyPr wrap="square" rtlCol="0" anchor="ctr"/>
          <a:lstStyle/>
          <a:p>
            <a:pPr marL="0" indent="0">
              <a:buNone/>
            </a:pPr>
            <a:r>
              <a:rPr lang="en-US" sz="2200" b="1" dirty="0">
                <a:solidFill>
                  <a:srgbClr val="1F3D2C"/>
                </a:solidFill>
                <a:latin typeface="Cambria" pitchFamily="34" charset="0"/>
                <a:ea typeface="Cambria" pitchFamily="34" charset="-122"/>
                <a:cs typeface="Cambria" pitchFamily="34" charset="-120"/>
              </a:rPr>
              <a:t>16</a:t>
            </a:r>
            <a:endParaRPr lang="en-US" sz="2200" dirty="0"/>
          </a:p>
        </p:txBody>
      </p:sp>
      <p:sp>
        <p:nvSpPr>
          <p:cNvPr id="28" name="Text 22"/>
          <p:cNvSpPr/>
          <p:nvPr/>
        </p:nvSpPr>
        <p:spPr>
          <a:xfrm>
            <a:off x="4251960" y="5897880"/>
            <a:ext cx="3474720" cy="320040"/>
          </a:xfrm>
          <a:prstGeom prst="rect">
            <a:avLst/>
          </a:prstGeom>
          <a:noFill/>
          <a:ln/>
        </p:spPr>
        <p:txBody>
          <a:bodyPr wrap="square" rtlCol="0" anchor="ctr"/>
          <a:lstStyle/>
          <a:p>
            <a:pPr marL="0" indent="0">
              <a:buNone/>
            </a:pPr>
            <a:r>
              <a:rPr lang="en-US" sz="1100" dirty="0">
                <a:solidFill>
                  <a:srgbClr val="5B6B60"/>
                </a:solidFill>
                <a:latin typeface="Calibri" pitchFamily="34" charset="0"/>
                <a:ea typeface="Calibri" pitchFamily="34" charset="-122"/>
                <a:cs typeface="Calibri" pitchFamily="34" charset="-120"/>
              </a:rPr>
              <a:t>Columns</a:t>
            </a:r>
            <a:endParaRPr lang="en-US" sz="1100" dirty="0"/>
          </a:p>
        </p:txBody>
      </p:sp>
      <p:sp>
        <p:nvSpPr>
          <p:cNvPr id="29" name="Text 23"/>
          <p:cNvSpPr/>
          <p:nvPr/>
        </p:nvSpPr>
        <p:spPr>
          <a:xfrm>
            <a:off x="7955280" y="5440680"/>
            <a:ext cx="3474720" cy="457200"/>
          </a:xfrm>
          <a:prstGeom prst="rect">
            <a:avLst/>
          </a:prstGeom>
          <a:noFill/>
          <a:ln/>
        </p:spPr>
        <p:txBody>
          <a:bodyPr wrap="square" rtlCol="0" anchor="ctr"/>
          <a:lstStyle/>
          <a:p>
            <a:pPr marL="0" indent="0">
              <a:buNone/>
            </a:pPr>
            <a:r>
              <a:rPr lang="en-US" sz="2200" b="1" dirty="0">
                <a:solidFill>
                  <a:srgbClr val="1F3D2C"/>
                </a:solidFill>
                <a:latin typeface="Cambria" pitchFamily="34" charset="0"/>
                <a:ea typeface="Cambria" pitchFamily="34" charset="-122"/>
                <a:cs typeface="Cambria" pitchFamily="34" charset="-120"/>
              </a:rPr>
              <a:t>Kaggle</a:t>
            </a:r>
            <a:endParaRPr lang="en-US" sz="2200" dirty="0"/>
          </a:p>
        </p:txBody>
      </p:sp>
      <p:sp>
        <p:nvSpPr>
          <p:cNvPr id="30" name="Text 24"/>
          <p:cNvSpPr/>
          <p:nvPr/>
        </p:nvSpPr>
        <p:spPr>
          <a:xfrm>
            <a:off x="7955280" y="5897880"/>
            <a:ext cx="3474720" cy="320040"/>
          </a:xfrm>
          <a:prstGeom prst="rect">
            <a:avLst/>
          </a:prstGeom>
          <a:noFill/>
          <a:ln/>
        </p:spPr>
        <p:txBody>
          <a:bodyPr wrap="square" rtlCol="0" anchor="ctr"/>
          <a:lstStyle/>
          <a:p>
            <a:pPr marL="0" indent="0">
              <a:buNone/>
            </a:pPr>
            <a:r>
              <a:rPr lang="en-US" sz="1100" dirty="0">
                <a:solidFill>
                  <a:srgbClr val="5B6B60"/>
                </a:solidFill>
                <a:latin typeface="Calibri" pitchFamily="34" charset="0"/>
                <a:ea typeface="Calibri" pitchFamily="34" charset="-122"/>
                <a:cs typeface="Calibri" pitchFamily="34" charset="-120"/>
              </a:rPr>
              <a:t>Source</a:t>
            </a:r>
            <a:endParaRPr lang="en-US" sz="1100" dirty="0"/>
          </a:p>
        </p:txBody>
      </p:sp>
      <p:sp>
        <p:nvSpPr>
          <p:cNvPr id="31" name="Text 25"/>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32" name="Text 26"/>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A1E"/>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749808"/>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One Pipeline, Raw Data to Deployed AI</a:t>
            </a:r>
            <a:endParaRPr lang="en-US" sz="3000" dirty="0"/>
          </a:p>
        </p:txBody>
      </p:sp>
      <p:sp>
        <p:nvSpPr>
          <p:cNvPr id="4" name="Shape 2"/>
          <p:cNvSpPr/>
          <p:nvPr/>
        </p:nvSpPr>
        <p:spPr>
          <a:xfrm>
            <a:off x="1874520" y="3749040"/>
            <a:ext cx="8412480" cy="0"/>
          </a:xfrm>
          <a:prstGeom prst="line">
            <a:avLst/>
          </a:prstGeom>
          <a:noFill/>
          <a:ln w="25400">
            <a:solidFill>
              <a:srgbClr val="7FA65C"/>
            </a:solidFill>
            <a:prstDash val="dash"/>
          </a:ln>
        </p:spPr>
        <p:txBody>
          <a:bodyPr/>
          <a:lstStyle/>
          <a:p>
            <a:endParaRPr lang="en-US"/>
          </a:p>
        </p:txBody>
      </p:sp>
      <p:sp>
        <p:nvSpPr>
          <p:cNvPr id="5" name="Shape 3"/>
          <p:cNvSpPr/>
          <p:nvPr/>
        </p:nvSpPr>
        <p:spPr>
          <a:xfrm>
            <a:off x="1371600" y="3246120"/>
            <a:ext cx="1005840" cy="1005840"/>
          </a:xfrm>
          <a:prstGeom prst="ellipse">
            <a:avLst/>
          </a:prstGeom>
          <a:solidFill>
            <a:srgbClr val="D9A441"/>
          </a:solidFill>
          <a:ln/>
        </p:spPr>
        <p:txBody>
          <a:bodyPr/>
          <a:lstStyle/>
          <a:p>
            <a:endParaRPr lang="en-US"/>
          </a:p>
        </p:txBody>
      </p:sp>
      <p:pic>
        <p:nvPicPr>
          <p:cNvPr id="6" name="Image 0" descr="/home/claude/proj/icons/database_forest.png"/>
          <p:cNvPicPr>
            <a:picLocks noChangeAspect="1"/>
          </p:cNvPicPr>
          <p:nvPr/>
        </p:nvPicPr>
        <p:blipFill>
          <a:blip r:embed="rId3"/>
          <a:stretch>
            <a:fillRect/>
          </a:stretch>
        </p:blipFill>
        <p:spPr>
          <a:xfrm>
            <a:off x="1492301" y="3366821"/>
            <a:ext cx="764438" cy="764438"/>
          </a:xfrm>
          <a:prstGeom prst="rect">
            <a:avLst/>
          </a:prstGeom>
        </p:spPr>
      </p:pic>
      <p:sp>
        <p:nvSpPr>
          <p:cNvPr id="7" name="Text 4"/>
          <p:cNvSpPr/>
          <p:nvPr/>
        </p:nvSpPr>
        <p:spPr>
          <a:xfrm>
            <a:off x="2084832" y="3118104"/>
            <a:ext cx="384048" cy="384048"/>
          </a:xfrm>
          <a:prstGeom prst="ellipse">
            <a:avLst/>
          </a:prstGeom>
          <a:solidFill>
            <a:srgbClr val="1F3D2C"/>
          </a:solidFill>
          <a:ln w="19050">
            <a:solidFill>
              <a:srgbClr val="142A1E"/>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822960" y="4453128"/>
            <a:ext cx="21031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 Cleaning</a:t>
            </a:r>
            <a:endParaRPr lang="en-US" sz="1300" dirty="0"/>
          </a:p>
        </p:txBody>
      </p:sp>
      <p:sp>
        <p:nvSpPr>
          <p:cNvPr id="9" name="Text 6"/>
          <p:cNvSpPr/>
          <p:nvPr/>
        </p:nvSpPr>
        <p:spPr>
          <a:xfrm>
            <a:off x="822960" y="4910328"/>
            <a:ext cx="2103120" cy="365760"/>
          </a:xfrm>
          <a:prstGeom prst="rect">
            <a:avLst/>
          </a:prstGeom>
          <a:noFill/>
          <a:ln/>
        </p:spPr>
        <p:txBody>
          <a:bodyPr wrap="square" rtlCol="0" anchor="ctr"/>
          <a:lstStyle/>
          <a:p>
            <a:pPr marL="0" indent="0" algn="ctr">
              <a:buNone/>
            </a:pPr>
            <a:r>
              <a:rPr lang="en-US" sz="1050" dirty="0">
                <a:solidFill>
                  <a:srgbClr val="9FB79A"/>
                </a:solidFill>
                <a:latin typeface="Calibri" pitchFamily="34" charset="0"/>
                <a:ea typeface="Calibri" pitchFamily="34" charset="-122"/>
                <a:cs typeface="Calibri" pitchFamily="34" charset="-120"/>
              </a:rPr>
              <a:t>Fatma M.</a:t>
            </a:r>
            <a:endParaRPr lang="en-US" sz="1050" dirty="0"/>
          </a:p>
        </p:txBody>
      </p:sp>
      <p:sp>
        <p:nvSpPr>
          <p:cNvPr id="10" name="Shape 7"/>
          <p:cNvSpPr/>
          <p:nvPr/>
        </p:nvSpPr>
        <p:spPr>
          <a:xfrm>
            <a:off x="3474720" y="3246120"/>
            <a:ext cx="1005840" cy="1005840"/>
          </a:xfrm>
          <a:prstGeom prst="ellipse">
            <a:avLst/>
          </a:prstGeom>
          <a:solidFill>
            <a:srgbClr val="D9A441"/>
          </a:solidFill>
          <a:ln/>
        </p:spPr>
        <p:txBody>
          <a:bodyPr/>
          <a:lstStyle/>
          <a:p>
            <a:endParaRPr lang="en-US"/>
          </a:p>
        </p:txBody>
      </p:sp>
      <p:pic>
        <p:nvPicPr>
          <p:cNvPr id="11" name="Image 1" descr="/home/claude/proj/icons/chartline_forest.png"/>
          <p:cNvPicPr>
            <a:picLocks noChangeAspect="1"/>
          </p:cNvPicPr>
          <p:nvPr/>
        </p:nvPicPr>
        <p:blipFill>
          <a:blip r:embed="rId4"/>
          <a:stretch>
            <a:fillRect/>
          </a:stretch>
        </p:blipFill>
        <p:spPr>
          <a:xfrm>
            <a:off x="3595421" y="3366821"/>
            <a:ext cx="764438" cy="764438"/>
          </a:xfrm>
          <a:prstGeom prst="rect">
            <a:avLst/>
          </a:prstGeom>
        </p:spPr>
      </p:pic>
      <p:sp>
        <p:nvSpPr>
          <p:cNvPr id="12" name="Text 8"/>
          <p:cNvSpPr/>
          <p:nvPr/>
        </p:nvSpPr>
        <p:spPr>
          <a:xfrm>
            <a:off x="4187952" y="3118104"/>
            <a:ext cx="384048" cy="384048"/>
          </a:xfrm>
          <a:prstGeom prst="ellipse">
            <a:avLst/>
          </a:prstGeom>
          <a:solidFill>
            <a:srgbClr val="1F3D2C"/>
          </a:solidFill>
          <a:ln w="19050">
            <a:solidFill>
              <a:srgbClr val="142A1E"/>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9"/>
          <p:cNvSpPr/>
          <p:nvPr/>
        </p:nvSpPr>
        <p:spPr>
          <a:xfrm>
            <a:off x="2926080" y="4453128"/>
            <a:ext cx="21031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EDA</a:t>
            </a:r>
            <a:endParaRPr lang="en-US" sz="1300" dirty="0"/>
          </a:p>
        </p:txBody>
      </p:sp>
      <p:sp>
        <p:nvSpPr>
          <p:cNvPr id="14" name="Text 10"/>
          <p:cNvSpPr/>
          <p:nvPr/>
        </p:nvSpPr>
        <p:spPr>
          <a:xfrm>
            <a:off x="2926080" y="4910328"/>
            <a:ext cx="2103120" cy="365760"/>
          </a:xfrm>
          <a:prstGeom prst="rect">
            <a:avLst/>
          </a:prstGeom>
          <a:noFill/>
          <a:ln/>
        </p:spPr>
        <p:txBody>
          <a:bodyPr wrap="square" rtlCol="0" anchor="ctr"/>
          <a:lstStyle/>
          <a:p>
            <a:pPr marL="0" indent="0" algn="ctr">
              <a:buNone/>
            </a:pPr>
            <a:r>
              <a:rPr lang="en-US" sz="1050" dirty="0">
                <a:solidFill>
                  <a:srgbClr val="9FB79A"/>
                </a:solidFill>
                <a:latin typeface="Calibri" pitchFamily="34" charset="0"/>
                <a:ea typeface="Calibri" pitchFamily="34" charset="-122"/>
                <a:cs typeface="Calibri" pitchFamily="34" charset="-120"/>
              </a:rPr>
              <a:t>Full Team</a:t>
            </a:r>
            <a:endParaRPr lang="en-US" sz="1050" dirty="0"/>
          </a:p>
        </p:txBody>
      </p:sp>
      <p:sp>
        <p:nvSpPr>
          <p:cNvPr id="15" name="Shape 11"/>
          <p:cNvSpPr/>
          <p:nvPr/>
        </p:nvSpPr>
        <p:spPr>
          <a:xfrm>
            <a:off x="5577840" y="3246120"/>
            <a:ext cx="1005840" cy="1005840"/>
          </a:xfrm>
          <a:prstGeom prst="ellipse">
            <a:avLst/>
          </a:prstGeom>
          <a:solidFill>
            <a:srgbClr val="D9A441"/>
          </a:solidFill>
          <a:ln/>
        </p:spPr>
        <p:txBody>
          <a:bodyPr/>
          <a:lstStyle/>
          <a:p>
            <a:endParaRPr lang="en-US"/>
          </a:p>
        </p:txBody>
      </p:sp>
      <p:pic>
        <p:nvPicPr>
          <p:cNvPr id="16" name="Image 2" descr="/home/claude/proj/icons/chartpie_forest.png"/>
          <p:cNvPicPr>
            <a:picLocks noChangeAspect="1"/>
          </p:cNvPicPr>
          <p:nvPr/>
        </p:nvPicPr>
        <p:blipFill>
          <a:blip r:embed="rId5"/>
          <a:stretch>
            <a:fillRect/>
          </a:stretch>
        </p:blipFill>
        <p:spPr>
          <a:xfrm>
            <a:off x="5698541" y="3366821"/>
            <a:ext cx="764438" cy="764438"/>
          </a:xfrm>
          <a:prstGeom prst="rect">
            <a:avLst/>
          </a:prstGeom>
        </p:spPr>
      </p:pic>
      <p:sp>
        <p:nvSpPr>
          <p:cNvPr id="17" name="Text 12"/>
          <p:cNvSpPr/>
          <p:nvPr/>
        </p:nvSpPr>
        <p:spPr>
          <a:xfrm>
            <a:off x="6291072" y="3118104"/>
            <a:ext cx="384048" cy="384048"/>
          </a:xfrm>
          <a:prstGeom prst="ellipse">
            <a:avLst/>
          </a:prstGeom>
          <a:solidFill>
            <a:srgbClr val="1F3D2C"/>
          </a:solidFill>
          <a:ln w="19050">
            <a:solidFill>
              <a:srgbClr val="142A1E"/>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3"/>
          <p:cNvSpPr/>
          <p:nvPr/>
        </p:nvSpPr>
        <p:spPr>
          <a:xfrm>
            <a:off x="5029200" y="4453128"/>
            <a:ext cx="21031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Power BI Dashboard</a:t>
            </a:r>
            <a:endParaRPr lang="en-US" sz="1300" dirty="0"/>
          </a:p>
        </p:txBody>
      </p:sp>
      <p:sp>
        <p:nvSpPr>
          <p:cNvPr id="19" name="Text 14"/>
          <p:cNvSpPr/>
          <p:nvPr/>
        </p:nvSpPr>
        <p:spPr>
          <a:xfrm>
            <a:off x="5029200" y="4910328"/>
            <a:ext cx="2103120" cy="365760"/>
          </a:xfrm>
          <a:prstGeom prst="rect">
            <a:avLst/>
          </a:prstGeom>
          <a:noFill/>
          <a:ln/>
        </p:spPr>
        <p:txBody>
          <a:bodyPr wrap="square" rtlCol="0" anchor="ctr"/>
          <a:lstStyle/>
          <a:p>
            <a:pPr marL="0" indent="0" algn="ctr">
              <a:buNone/>
            </a:pPr>
            <a:r>
              <a:rPr lang="en-US" sz="1050" dirty="0">
                <a:solidFill>
                  <a:srgbClr val="9FB79A"/>
                </a:solidFill>
                <a:latin typeface="Calibri" pitchFamily="34" charset="0"/>
                <a:ea typeface="Calibri" pitchFamily="34" charset="-122"/>
                <a:cs typeface="Calibri" pitchFamily="34" charset="-120"/>
              </a:rPr>
              <a:t>Menna W.</a:t>
            </a:r>
            <a:endParaRPr lang="en-US" sz="1050" dirty="0"/>
          </a:p>
        </p:txBody>
      </p:sp>
      <p:sp>
        <p:nvSpPr>
          <p:cNvPr id="20" name="Shape 15"/>
          <p:cNvSpPr/>
          <p:nvPr/>
        </p:nvSpPr>
        <p:spPr>
          <a:xfrm>
            <a:off x="7680960" y="3246120"/>
            <a:ext cx="1005840" cy="1005840"/>
          </a:xfrm>
          <a:prstGeom prst="ellipse">
            <a:avLst/>
          </a:prstGeom>
          <a:solidFill>
            <a:srgbClr val="D9A441"/>
          </a:solidFill>
          <a:ln/>
        </p:spPr>
        <p:txBody>
          <a:bodyPr/>
          <a:lstStyle/>
          <a:p>
            <a:endParaRPr lang="en-US"/>
          </a:p>
        </p:txBody>
      </p:sp>
      <p:pic>
        <p:nvPicPr>
          <p:cNvPr id="21" name="Image 3" descr="/home/claude/proj/icons/brain_forest.png"/>
          <p:cNvPicPr>
            <a:picLocks noChangeAspect="1"/>
          </p:cNvPicPr>
          <p:nvPr/>
        </p:nvPicPr>
        <p:blipFill>
          <a:blip r:embed="rId6"/>
          <a:stretch>
            <a:fillRect/>
          </a:stretch>
        </p:blipFill>
        <p:spPr>
          <a:xfrm>
            <a:off x="7801661" y="3366821"/>
            <a:ext cx="764438" cy="764438"/>
          </a:xfrm>
          <a:prstGeom prst="rect">
            <a:avLst/>
          </a:prstGeom>
        </p:spPr>
      </p:pic>
      <p:sp>
        <p:nvSpPr>
          <p:cNvPr id="22" name="Text 16"/>
          <p:cNvSpPr/>
          <p:nvPr/>
        </p:nvSpPr>
        <p:spPr>
          <a:xfrm>
            <a:off x="8394192" y="3118104"/>
            <a:ext cx="384048" cy="384048"/>
          </a:xfrm>
          <a:prstGeom prst="ellipse">
            <a:avLst/>
          </a:prstGeom>
          <a:solidFill>
            <a:srgbClr val="1F3D2C"/>
          </a:solidFill>
          <a:ln w="19050">
            <a:solidFill>
              <a:srgbClr val="142A1E"/>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17"/>
          <p:cNvSpPr/>
          <p:nvPr/>
        </p:nvSpPr>
        <p:spPr>
          <a:xfrm>
            <a:off x="7132320" y="4453128"/>
            <a:ext cx="21031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Random Forest Model</a:t>
            </a:r>
            <a:endParaRPr lang="en-US" sz="1300" dirty="0"/>
          </a:p>
        </p:txBody>
      </p:sp>
      <p:sp>
        <p:nvSpPr>
          <p:cNvPr id="24" name="Text 18"/>
          <p:cNvSpPr/>
          <p:nvPr/>
        </p:nvSpPr>
        <p:spPr>
          <a:xfrm>
            <a:off x="7132320" y="4910328"/>
            <a:ext cx="2103120" cy="365760"/>
          </a:xfrm>
          <a:prstGeom prst="rect">
            <a:avLst/>
          </a:prstGeom>
          <a:noFill/>
          <a:ln/>
        </p:spPr>
        <p:txBody>
          <a:bodyPr wrap="square" rtlCol="0" anchor="ctr"/>
          <a:lstStyle/>
          <a:p>
            <a:pPr marL="0" indent="0" algn="ctr">
              <a:buNone/>
            </a:pPr>
            <a:r>
              <a:rPr lang="en-US" sz="1050" dirty="0">
                <a:solidFill>
                  <a:srgbClr val="9FB79A"/>
                </a:solidFill>
                <a:latin typeface="Calibri" pitchFamily="34" charset="0"/>
                <a:ea typeface="Calibri" pitchFamily="34" charset="-122"/>
                <a:cs typeface="Calibri" pitchFamily="34" charset="-120"/>
              </a:rPr>
              <a:t>Fatma H.</a:t>
            </a:r>
            <a:endParaRPr lang="en-US" sz="1050" dirty="0"/>
          </a:p>
        </p:txBody>
      </p:sp>
      <p:sp>
        <p:nvSpPr>
          <p:cNvPr id="25" name="Shape 19"/>
          <p:cNvSpPr/>
          <p:nvPr/>
        </p:nvSpPr>
        <p:spPr>
          <a:xfrm>
            <a:off x="9784080" y="3246120"/>
            <a:ext cx="1005840" cy="1005840"/>
          </a:xfrm>
          <a:prstGeom prst="ellipse">
            <a:avLst/>
          </a:prstGeom>
          <a:solidFill>
            <a:srgbClr val="D9A441"/>
          </a:solidFill>
          <a:ln/>
        </p:spPr>
        <p:txBody>
          <a:bodyPr/>
          <a:lstStyle/>
          <a:p>
            <a:endParaRPr lang="en-US"/>
          </a:p>
        </p:txBody>
      </p:sp>
      <p:pic>
        <p:nvPicPr>
          <p:cNvPr id="26" name="Image 4" descr="/home/claude/proj/icons/mobile_forest.png"/>
          <p:cNvPicPr>
            <a:picLocks noChangeAspect="1"/>
          </p:cNvPicPr>
          <p:nvPr/>
        </p:nvPicPr>
        <p:blipFill>
          <a:blip r:embed="rId7"/>
          <a:stretch>
            <a:fillRect/>
          </a:stretch>
        </p:blipFill>
        <p:spPr>
          <a:xfrm>
            <a:off x="9904781" y="3366821"/>
            <a:ext cx="764438" cy="764438"/>
          </a:xfrm>
          <a:prstGeom prst="rect">
            <a:avLst/>
          </a:prstGeom>
        </p:spPr>
      </p:pic>
      <p:sp>
        <p:nvSpPr>
          <p:cNvPr id="27" name="Text 20"/>
          <p:cNvSpPr/>
          <p:nvPr/>
        </p:nvSpPr>
        <p:spPr>
          <a:xfrm>
            <a:off x="10497312" y="3118104"/>
            <a:ext cx="384048" cy="384048"/>
          </a:xfrm>
          <a:prstGeom prst="ellipse">
            <a:avLst/>
          </a:prstGeom>
          <a:solidFill>
            <a:srgbClr val="1F3D2C"/>
          </a:solidFill>
          <a:ln w="19050">
            <a:solidFill>
              <a:srgbClr val="142A1E"/>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1"/>
          <p:cNvSpPr/>
          <p:nvPr/>
        </p:nvSpPr>
        <p:spPr>
          <a:xfrm>
            <a:off x="9235440" y="4453128"/>
            <a:ext cx="210312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Deployment</a:t>
            </a:r>
            <a:endParaRPr lang="en-US" sz="1300" dirty="0"/>
          </a:p>
        </p:txBody>
      </p:sp>
      <p:sp>
        <p:nvSpPr>
          <p:cNvPr id="29" name="Text 22"/>
          <p:cNvSpPr/>
          <p:nvPr/>
        </p:nvSpPr>
        <p:spPr>
          <a:xfrm>
            <a:off x="9235440" y="4910328"/>
            <a:ext cx="2103120" cy="365760"/>
          </a:xfrm>
          <a:prstGeom prst="rect">
            <a:avLst/>
          </a:prstGeom>
          <a:noFill/>
          <a:ln/>
        </p:spPr>
        <p:txBody>
          <a:bodyPr wrap="square" rtlCol="0" anchor="ctr"/>
          <a:lstStyle/>
          <a:p>
            <a:pPr marL="0" indent="0" algn="ctr">
              <a:buNone/>
            </a:pPr>
            <a:r>
              <a:rPr lang="en-US" sz="1050" dirty="0">
                <a:solidFill>
                  <a:srgbClr val="9FB79A"/>
                </a:solidFill>
                <a:latin typeface="Calibri" pitchFamily="34" charset="0"/>
                <a:ea typeface="Calibri" pitchFamily="34" charset="-122"/>
                <a:cs typeface="Calibri" pitchFamily="34" charset="-120"/>
              </a:rPr>
              <a:t>Fatma H.</a:t>
            </a:r>
            <a:endParaRPr lang="en-US" sz="1050" dirty="0"/>
          </a:p>
        </p:txBody>
      </p:sp>
      <p:sp>
        <p:nvSpPr>
          <p:cNvPr id="30" name="Text 23"/>
          <p:cNvSpPr/>
          <p:nvPr/>
        </p:nvSpPr>
        <p:spPr>
          <a:xfrm>
            <a:off x="1280160" y="5349240"/>
            <a:ext cx="9601200" cy="731520"/>
          </a:xfrm>
          <a:prstGeom prst="rect">
            <a:avLst/>
          </a:prstGeom>
          <a:noFill/>
          <a:ln/>
        </p:spPr>
        <p:txBody>
          <a:bodyPr wrap="square" rtlCol="0" anchor="ctr"/>
          <a:lstStyle/>
          <a:p>
            <a:pPr marL="0" indent="0" algn="ctr">
              <a:lnSpc>
                <a:spcPct val="120000"/>
              </a:lnSpc>
              <a:buNone/>
            </a:pPr>
            <a:r>
              <a:rPr lang="en-US" sz="1300" i="1" dirty="0">
                <a:solidFill>
                  <a:srgbClr val="E7F0DE"/>
                </a:solidFill>
                <a:latin typeface="Calibri" pitchFamily="34" charset="0"/>
                <a:ea typeface="Calibri" pitchFamily="34" charset="-122"/>
                <a:cs typeface="Calibri" pitchFamily="34" charset="-120"/>
              </a:rPr>
              <a:t>Each stage builds on the last: clean data feeds exploratory analysis, which shapes both the Power BI story and the features used to train the prediction model — which is then shipped into tools people can actually use.</a:t>
            </a:r>
            <a:endParaRPr lang="en-US" sz="1300" dirty="0"/>
          </a:p>
        </p:txBody>
      </p:sp>
      <p:sp>
        <p:nvSpPr>
          <p:cNvPr id="31" name="Text 24"/>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32" name="Text 25"/>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STEP 1 · FOUNDATIONS</a:t>
            </a:r>
            <a:endParaRPr lang="en-US" sz="1200" dirty="0"/>
          </a:p>
        </p:txBody>
      </p:sp>
      <p:sp>
        <p:nvSpPr>
          <p:cNvPr id="3" name="Text 1"/>
          <p:cNvSpPr/>
          <p:nvPr/>
        </p:nvSpPr>
        <p:spPr>
          <a:xfrm>
            <a:off x="548640" y="749808"/>
            <a:ext cx="10972800" cy="640080"/>
          </a:xfrm>
          <a:prstGeom prst="rect">
            <a:avLst/>
          </a:prstGeom>
          <a:noFill/>
          <a:ln/>
        </p:spPr>
        <p:txBody>
          <a:bodyPr wrap="square" rtlCol="0" anchor="ctr"/>
          <a:lstStyle/>
          <a:p>
            <a:pPr marL="0" indent="0">
              <a:buNone/>
            </a:pPr>
            <a:r>
              <a:rPr lang="en-US" sz="3200" b="1" dirty="0">
                <a:solidFill>
                  <a:srgbClr val="1A2E22"/>
                </a:solidFill>
                <a:latin typeface="Cambria" pitchFamily="34" charset="0"/>
                <a:ea typeface="Cambria" pitchFamily="34" charset="-122"/>
                <a:cs typeface="Cambria" pitchFamily="34" charset="-120"/>
              </a:rPr>
              <a:t>Getting the Data Ready to Trust</a:t>
            </a:r>
            <a:endParaRPr lang="en-US" sz="3200" dirty="0"/>
          </a:p>
        </p:txBody>
      </p:sp>
      <p:sp>
        <p:nvSpPr>
          <p:cNvPr id="4" name="Text 2"/>
          <p:cNvSpPr/>
          <p:nvPr/>
        </p:nvSpPr>
        <p:spPr>
          <a:xfrm>
            <a:off x="548640" y="1353312"/>
            <a:ext cx="10515600" cy="365760"/>
          </a:xfrm>
          <a:prstGeom prst="rect">
            <a:avLst/>
          </a:prstGeom>
          <a:noFill/>
          <a:ln/>
        </p:spPr>
        <p:txBody>
          <a:bodyPr wrap="square" rtlCol="0" anchor="ctr"/>
          <a:lstStyle/>
          <a:p>
            <a:pPr marL="0" indent="0">
              <a:buNone/>
            </a:pPr>
            <a:r>
              <a:rPr lang="en-US" sz="1350" i="1" dirty="0">
                <a:solidFill>
                  <a:srgbClr val="5B6B60"/>
                </a:solidFill>
                <a:latin typeface="Calibri" pitchFamily="34" charset="0"/>
                <a:ea typeface="Calibri" pitchFamily="34" charset="-122"/>
                <a:cs typeface="Calibri" pitchFamily="34" charset="-120"/>
              </a:rPr>
              <a:t>Led by Fatma Mohamed Osman — every column was checked before any analysis began.</a:t>
            </a:r>
            <a:endParaRPr lang="en-US" sz="1350" dirty="0"/>
          </a:p>
        </p:txBody>
      </p:sp>
      <p:sp>
        <p:nvSpPr>
          <p:cNvPr id="5" name="Shape 3"/>
          <p:cNvSpPr/>
          <p:nvPr/>
        </p:nvSpPr>
        <p:spPr>
          <a:xfrm>
            <a:off x="548640" y="1965960"/>
            <a:ext cx="502920" cy="502920"/>
          </a:xfrm>
          <a:prstGeom prst="ellipse">
            <a:avLst/>
          </a:prstGeom>
          <a:solidFill>
            <a:srgbClr val="1F3D2C"/>
          </a:solidFill>
          <a:ln/>
        </p:spPr>
        <p:txBody>
          <a:bodyPr/>
          <a:lstStyle/>
          <a:p>
            <a:endParaRPr lang="en-US"/>
          </a:p>
        </p:txBody>
      </p:sp>
      <p:pic>
        <p:nvPicPr>
          <p:cNvPr id="6" name="Image 0" descr="/home/claude/proj/icons/check_white.png"/>
          <p:cNvPicPr>
            <a:picLocks noChangeAspect="1"/>
          </p:cNvPicPr>
          <p:nvPr/>
        </p:nvPicPr>
        <p:blipFill>
          <a:blip r:embed="rId3"/>
          <a:stretch>
            <a:fillRect/>
          </a:stretch>
        </p:blipFill>
        <p:spPr>
          <a:xfrm>
            <a:off x="608990" y="2026310"/>
            <a:ext cx="382219" cy="382219"/>
          </a:xfrm>
          <a:prstGeom prst="rect">
            <a:avLst/>
          </a:prstGeom>
        </p:spPr>
      </p:pic>
      <p:sp>
        <p:nvSpPr>
          <p:cNvPr id="7" name="Text 4"/>
          <p:cNvSpPr/>
          <p:nvPr/>
        </p:nvSpPr>
        <p:spPr>
          <a:xfrm>
            <a:off x="1234440" y="1938528"/>
            <a:ext cx="2834640" cy="548640"/>
          </a:xfrm>
          <a:prstGeom prst="rect">
            <a:avLst/>
          </a:prstGeom>
          <a:noFill/>
          <a:ln/>
        </p:spPr>
        <p:txBody>
          <a:bodyPr wrap="square" rtlCol="0" anchor="ctr"/>
          <a:lstStyle/>
          <a:p>
            <a:pPr marL="0" indent="0">
              <a:buNone/>
            </a:pPr>
            <a:r>
              <a:rPr lang="en-US" sz="1400" b="1" dirty="0">
                <a:solidFill>
                  <a:srgbClr val="1A2E22"/>
                </a:solidFill>
                <a:latin typeface="Calibri" pitchFamily="34" charset="0"/>
                <a:ea typeface="Calibri" pitchFamily="34" charset="-122"/>
                <a:cs typeface="Calibri" pitchFamily="34" charset="-120"/>
              </a:rPr>
              <a:t>Missing Values</a:t>
            </a:r>
            <a:endParaRPr lang="en-US" sz="1400" dirty="0"/>
          </a:p>
        </p:txBody>
      </p:sp>
      <p:sp>
        <p:nvSpPr>
          <p:cNvPr id="8" name="Text 5"/>
          <p:cNvSpPr/>
          <p:nvPr/>
        </p:nvSpPr>
        <p:spPr>
          <a:xfrm>
            <a:off x="4206240" y="1920240"/>
            <a:ext cx="7406640" cy="822960"/>
          </a:xfrm>
          <a:prstGeom prst="rect">
            <a:avLst/>
          </a:prstGeom>
          <a:noFill/>
          <a:ln/>
        </p:spPr>
        <p:txBody>
          <a:bodyPr wrap="square" rtlCol="0" anchor="ctr"/>
          <a:lstStyle/>
          <a:p>
            <a:pPr marL="0" indent="0">
              <a:lnSpc>
                <a:spcPct val="115000"/>
              </a:lnSpc>
              <a:buNone/>
            </a:pPr>
            <a:r>
              <a:rPr lang="en-US" sz="1250" dirty="0">
                <a:solidFill>
                  <a:srgbClr val="5B6B60"/>
                </a:solidFill>
                <a:latin typeface="Calibri" pitchFamily="34" charset="0"/>
                <a:ea typeface="Calibri" pitchFamily="34" charset="-122"/>
                <a:cs typeface="Calibri" pitchFamily="34" charset="-120"/>
              </a:rPr>
              <a:t>Scanned all 16 columns for nulls and quantified the percentage missing per field before deciding to impute or drop.</a:t>
            </a:r>
            <a:endParaRPr lang="en-US" sz="1250" dirty="0"/>
          </a:p>
        </p:txBody>
      </p:sp>
      <p:sp>
        <p:nvSpPr>
          <p:cNvPr id="9" name="Shape 6"/>
          <p:cNvSpPr/>
          <p:nvPr/>
        </p:nvSpPr>
        <p:spPr>
          <a:xfrm>
            <a:off x="548640" y="2743200"/>
            <a:ext cx="11064240" cy="0"/>
          </a:xfrm>
          <a:prstGeom prst="line">
            <a:avLst/>
          </a:prstGeom>
          <a:noFill/>
          <a:ln w="12700">
            <a:solidFill>
              <a:srgbClr val="E3E9DF"/>
            </a:solidFill>
            <a:prstDash val="solid"/>
          </a:ln>
        </p:spPr>
        <p:txBody>
          <a:bodyPr/>
          <a:lstStyle/>
          <a:p>
            <a:endParaRPr lang="en-US"/>
          </a:p>
        </p:txBody>
      </p:sp>
      <p:sp>
        <p:nvSpPr>
          <p:cNvPr id="10" name="Shape 7"/>
          <p:cNvSpPr/>
          <p:nvPr/>
        </p:nvSpPr>
        <p:spPr>
          <a:xfrm>
            <a:off x="548640" y="2990088"/>
            <a:ext cx="502920" cy="502920"/>
          </a:xfrm>
          <a:prstGeom prst="ellipse">
            <a:avLst/>
          </a:prstGeom>
          <a:solidFill>
            <a:srgbClr val="1F3D2C"/>
          </a:solidFill>
          <a:ln/>
        </p:spPr>
        <p:txBody>
          <a:bodyPr/>
          <a:lstStyle/>
          <a:p>
            <a:endParaRPr lang="en-US"/>
          </a:p>
        </p:txBody>
      </p:sp>
      <p:pic>
        <p:nvPicPr>
          <p:cNvPr id="11" name="Image 1" descr="/home/claude/proj/icons/check_white.png"/>
          <p:cNvPicPr>
            <a:picLocks noChangeAspect="1"/>
          </p:cNvPicPr>
          <p:nvPr/>
        </p:nvPicPr>
        <p:blipFill>
          <a:blip r:embed="rId3"/>
          <a:stretch>
            <a:fillRect/>
          </a:stretch>
        </p:blipFill>
        <p:spPr>
          <a:xfrm>
            <a:off x="608990" y="3050438"/>
            <a:ext cx="382219" cy="382219"/>
          </a:xfrm>
          <a:prstGeom prst="rect">
            <a:avLst/>
          </a:prstGeom>
        </p:spPr>
      </p:pic>
      <p:sp>
        <p:nvSpPr>
          <p:cNvPr id="12" name="Text 8"/>
          <p:cNvSpPr/>
          <p:nvPr/>
        </p:nvSpPr>
        <p:spPr>
          <a:xfrm>
            <a:off x="1234440" y="2962656"/>
            <a:ext cx="2834640" cy="548640"/>
          </a:xfrm>
          <a:prstGeom prst="rect">
            <a:avLst/>
          </a:prstGeom>
          <a:noFill/>
          <a:ln/>
        </p:spPr>
        <p:txBody>
          <a:bodyPr wrap="square" rtlCol="0" anchor="ctr"/>
          <a:lstStyle/>
          <a:p>
            <a:pPr marL="0" indent="0">
              <a:buNone/>
            </a:pPr>
            <a:r>
              <a:rPr lang="en-US" sz="1400" b="1" dirty="0">
                <a:solidFill>
                  <a:srgbClr val="1A2E22"/>
                </a:solidFill>
                <a:latin typeface="Calibri" pitchFamily="34" charset="0"/>
                <a:ea typeface="Calibri" pitchFamily="34" charset="-122"/>
                <a:cs typeface="Calibri" pitchFamily="34" charset="-120"/>
              </a:rPr>
              <a:t>Duplicate Records</a:t>
            </a:r>
            <a:endParaRPr lang="en-US" sz="1400" dirty="0"/>
          </a:p>
        </p:txBody>
      </p:sp>
      <p:sp>
        <p:nvSpPr>
          <p:cNvPr id="13" name="Text 9"/>
          <p:cNvSpPr/>
          <p:nvPr/>
        </p:nvSpPr>
        <p:spPr>
          <a:xfrm>
            <a:off x="4206240" y="2944368"/>
            <a:ext cx="7406640" cy="822960"/>
          </a:xfrm>
          <a:prstGeom prst="rect">
            <a:avLst/>
          </a:prstGeom>
          <a:noFill/>
          <a:ln/>
        </p:spPr>
        <p:txBody>
          <a:bodyPr wrap="square" rtlCol="0" anchor="ctr"/>
          <a:lstStyle/>
          <a:p>
            <a:pPr marL="0" indent="0">
              <a:lnSpc>
                <a:spcPct val="115000"/>
              </a:lnSpc>
              <a:buNone/>
            </a:pPr>
            <a:r>
              <a:rPr lang="en-US" sz="1250" dirty="0">
                <a:solidFill>
                  <a:srgbClr val="5B6B60"/>
                </a:solidFill>
                <a:latin typeface="Calibri" pitchFamily="34" charset="0"/>
                <a:ea typeface="Calibri" pitchFamily="34" charset="-122"/>
                <a:cs typeface="Calibri" pitchFamily="34" charset="-120"/>
              </a:rPr>
              <a:t>Checked the full dataset for duplicated rows to avoid double-counting any farm or season.</a:t>
            </a:r>
            <a:endParaRPr lang="en-US" sz="1250" dirty="0"/>
          </a:p>
        </p:txBody>
      </p:sp>
      <p:sp>
        <p:nvSpPr>
          <p:cNvPr id="14" name="Shape 10"/>
          <p:cNvSpPr/>
          <p:nvPr/>
        </p:nvSpPr>
        <p:spPr>
          <a:xfrm>
            <a:off x="548640" y="3767328"/>
            <a:ext cx="11064240" cy="0"/>
          </a:xfrm>
          <a:prstGeom prst="line">
            <a:avLst/>
          </a:prstGeom>
          <a:noFill/>
          <a:ln w="12700">
            <a:solidFill>
              <a:srgbClr val="E3E9DF"/>
            </a:solidFill>
            <a:prstDash val="solid"/>
          </a:ln>
        </p:spPr>
        <p:txBody>
          <a:bodyPr/>
          <a:lstStyle/>
          <a:p>
            <a:endParaRPr lang="en-US"/>
          </a:p>
        </p:txBody>
      </p:sp>
      <p:sp>
        <p:nvSpPr>
          <p:cNvPr id="15" name="Shape 11"/>
          <p:cNvSpPr/>
          <p:nvPr/>
        </p:nvSpPr>
        <p:spPr>
          <a:xfrm>
            <a:off x="548640" y="4014216"/>
            <a:ext cx="502920" cy="502920"/>
          </a:xfrm>
          <a:prstGeom prst="ellipse">
            <a:avLst/>
          </a:prstGeom>
          <a:solidFill>
            <a:srgbClr val="1F3D2C"/>
          </a:solidFill>
          <a:ln/>
        </p:spPr>
        <p:txBody>
          <a:bodyPr/>
          <a:lstStyle/>
          <a:p>
            <a:endParaRPr lang="en-US"/>
          </a:p>
        </p:txBody>
      </p:sp>
      <p:pic>
        <p:nvPicPr>
          <p:cNvPr id="16" name="Image 2" descr="/home/claude/proj/icons/check_white.png"/>
          <p:cNvPicPr>
            <a:picLocks noChangeAspect="1"/>
          </p:cNvPicPr>
          <p:nvPr/>
        </p:nvPicPr>
        <p:blipFill>
          <a:blip r:embed="rId3"/>
          <a:stretch>
            <a:fillRect/>
          </a:stretch>
        </p:blipFill>
        <p:spPr>
          <a:xfrm>
            <a:off x="608990" y="4074566"/>
            <a:ext cx="382219" cy="382219"/>
          </a:xfrm>
          <a:prstGeom prst="rect">
            <a:avLst/>
          </a:prstGeom>
        </p:spPr>
      </p:pic>
      <p:sp>
        <p:nvSpPr>
          <p:cNvPr id="17" name="Text 12"/>
          <p:cNvSpPr/>
          <p:nvPr/>
        </p:nvSpPr>
        <p:spPr>
          <a:xfrm>
            <a:off x="1234440" y="3986784"/>
            <a:ext cx="2834640" cy="548640"/>
          </a:xfrm>
          <a:prstGeom prst="rect">
            <a:avLst/>
          </a:prstGeom>
          <a:noFill/>
          <a:ln/>
        </p:spPr>
        <p:txBody>
          <a:bodyPr wrap="square" rtlCol="0" anchor="ctr"/>
          <a:lstStyle/>
          <a:p>
            <a:pPr marL="0" indent="0">
              <a:buNone/>
            </a:pPr>
            <a:r>
              <a:rPr lang="en-US" sz="1400" b="1" dirty="0">
                <a:solidFill>
                  <a:srgbClr val="1A2E22"/>
                </a:solidFill>
                <a:latin typeface="Calibri" pitchFamily="34" charset="0"/>
                <a:ea typeface="Calibri" pitchFamily="34" charset="-122"/>
                <a:cs typeface="Calibri" pitchFamily="34" charset="-120"/>
              </a:rPr>
              <a:t>Outlier Detection</a:t>
            </a:r>
            <a:endParaRPr lang="en-US" sz="1400" dirty="0"/>
          </a:p>
        </p:txBody>
      </p:sp>
      <p:sp>
        <p:nvSpPr>
          <p:cNvPr id="18" name="Text 13"/>
          <p:cNvSpPr/>
          <p:nvPr/>
        </p:nvSpPr>
        <p:spPr>
          <a:xfrm>
            <a:off x="4206240" y="3968496"/>
            <a:ext cx="7406640" cy="822960"/>
          </a:xfrm>
          <a:prstGeom prst="rect">
            <a:avLst/>
          </a:prstGeom>
          <a:noFill/>
          <a:ln/>
        </p:spPr>
        <p:txBody>
          <a:bodyPr wrap="square" rtlCol="0" anchor="ctr"/>
          <a:lstStyle/>
          <a:p>
            <a:pPr marL="0" indent="0">
              <a:lnSpc>
                <a:spcPct val="115000"/>
              </a:lnSpc>
              <a:buNone/>
            </a:pPr>
            <a:r>
              <a:rPr lang="en-US" sz="1250" dirty="0">
                <a:solidFill>
                  <a:srgbClr val="5B6B60"/>
                </a:solidFill>
                <a:latin typeface="Calibri" pitchFamily="34" charset="0"/>
                <a:ea typeface="Calibri" pitchFamily="34" charset="-122"/>
                <a:cs typeface="Calibri" pitchFamily="34" charset="-120"/>
              </a:rPr>
              <a:t>Applied the IQR method (Q1 − 1.5·IQR to Q3 + 1.5·IQR) across every numeric column — soil, climate, and yield alike.</a:t>
            </a:r>
            <a:endParaRPr lang="en-US" sz="1250" dirty="0"/>
          </a:p>
        </p:txBody>
      </p:sp>
      <p:sp>
        <p:nvSpPr>
          <p:cNvPr id="19" name="Shape 14"/>
          <p:cNvSpPr/>
          <p:nvPr/>
        </p:nvSpPr>
        <p:spPr>
          <a:xfrm>
            <a:off x="548640" y="4791456"/>
            <a:ext cx="11064240" cy="0"/>
          </a:xfrm>
          <a:prstGeom prst="line">
            <a:avLst/>
          </a:prstGeom>
          <a:noFill/>
          <a:ln w="12700">
            <a:solidFill>
              <a:srgbClr val="E3E9DF"/>
            </a:solidFill>
            <a:prstDash val="solid"/>
          </a:ln>
        </p:spPr>
        <p:txBody>
          <a:bodyPr/>
          <a:lstStyle/>
          <a:p>
            <a:endParaRPr lang="en-US"/>
          </a:p>
        </p:txBody>
      </p:sp>
      <p:sp>
        <p:nvSpPr>
          <p:cNvPr id="20" name="Shape 15"/>
          <p:cNvSpPr/>
          <p:nvPr/>
        </p:nvSpPr>
        <p:spPr>
          <a:xfrm>
            <a:off x="548640" y="5038344"/>
            <a:ext cx="502920" cy="502920"/>
          </a:xfrm>
          <a:prstGeom prst="ellipse">
            <a:avLst/>
          </a:prstGeom>
          <a:solidFill>
            <a:srgbClr val="1F3D2C"/>
          </a:solidFill>
          <a:ln/>
        </p:spPr>
        <p:txBody>
          <a:bodyPr/>
          <a:lstStyle/>
          <a:p>
            <a:endParaRPr lang="en-US"/>
          </a:p>
        </p:txBody>
      </p:sp>
      <p:pic>
        <p:nvPicPr>
          <p:cNvPr id="21" name="Image 3" descr="/home/claude/proj/icons/check_white.png"/>
          <p:cNvPicPr>
            <a:picLocks noChangeAspect="1"/>
          </p:cNvPicPr>
          <p:nvPr/>
        </p:nvPicPr>
        <p:blipFill>
          <a:blip r:embed="rId3"/>
          <a:stretch>
            <a:fillRect/>
          </a:stretch>
        </p:blipFill>
        <p:spPr>
          <a:xfrm>
            <a:off x="608990" y="5098694"/>
            <a:ext cx="382219" cy="382219"/>
          </a:xfrm>
          <a:prstGeom prst="rect">
            <a:avLst/>
          </a:prstGeom>
        </p:spPr>
      </p:pic>
      <p:sp>
        <p:nvSpPr>
          <p:cNvPr id="22" name="Text 16"/>
          <p:cNvSpPr/>
          <p:nvPr/>
        </p:nvSpPr>
        <p:spPr>
          <a:xfrm>
            <a:off x="1234440" y="5010912"/>
            <a:ext cx="2834640" cy="548640"/>
          </a:xfrm>
          <a:prstGeom prst="rect">
            <a:avLst/>
          </a:prstGeom>
          <a:noFill/>
          <a:ln/>
        </p:spPr>
        <p:txBody>
          <a:bodyPr wrap="square" rtlCol="0" anchor="ctr"/>
          <a:lstStyle/>
          <a:p>
            <a:pPr marL="0" indent="0">
              <a:buNone/>
            </a:pPr>
            <a:r>
              <a:rPr lang="en-US" sz="1400" b="1" dirty="0">
                <a:solidFill>
                  <a:srgbClr val="1A2E22"/>
                </a:solidFill>
                <a:latin typeface="Calibri" pitchFamily="34" charset="0"/>
                <a:ea typeface="Calibri" pitchFamily="34" charset="-122"/>
                <a:cs typeface="Calibri" pitchFamily="34" charset="-120"/>
              </a:rPr>
              <a:t>Encoding &amp; Types</a:t>
            </a:r>
            <a:endParaRPr lang="en-US" sz="1400" dirty="0"/>
          </a:p>
        </p:txBody>
      </p:sp>
      <p:sp>
        <p:nvSpPr>
          <p:cNvPr id="23" name="Text 17"/>
          <p:cNvSpPr/>
          <p:nvPr/>
        </p:nvSpPr>
        <p:spPr>
          <a:xfrm>
            <a:off x="4206240" y="4992624"/>
            <a:ext cx="7406640" cy="822960"/>
          </a:xfrm>
          <a:prstGeom prst="rect">
            <a:avLst/>
          </a:prstGeom>
          <a:noFill/>
          <a:ln/>
        </p:spPr>
        <p:txBody>
          <a:bodyPr wrap="square" rtlCol="0" anchor="ctr"/>
          <a:lstStyle/>
          <a:p>
            <a:pPr marL="0" indent="0">
              <a:lnSpc>
                <a:spcPct val="115000"/>
              </a:lnSpc>
              <a:buNone/>
            </a:pPr>
            <a:r>
              <a:rPr lang="en-US" sz="1250" dirty="0">
                <a:solidFill>
                  <a:srgbClr val="5B6B60"/>
                </a:solidFill>
                <a:latin typeface="Calibri" pitchFamily="34" charset="0"/>
                <a:ea typeface="Calibri" pitchFamily="34" charset="-122"/>
                <a:cs typeface="Calibri" pitchFamily="34" charset="-120"/>
              </a:rPr>
              <a:t>Converted categorical fields (State, Crop, Season) into model-ready formats and verified data types column by column.</a:t>
            </a:r>
            <a:endParaRPr lang="en-US" sz="1250" dirty="0"/>
          </a:p>
        </p:txBody>
      </p:sp>
      <p:sp>
        <p:nvSpPr>
          <p:cNvPr id="24" name="Text 18"/>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25" name="Text 19"/>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STEP 2 · EXPLORATION</a:t>
            </a:r>
            <a:endParaRPr lang="en-US" sz="1200" dirty="0"/>
          </a:p>
        </p:txBody>
      </p:sp>
      <p:sp>
        <p:nvSpPr>
          <p:cNvPr id="3" name="Text 1"/>
          <p:cNvSpPr/>
          <p:nvPr/>
        </p:nvSpPr>
        <p:spPr>
          <a:xfrm>
            <a:off x="548640" y="749808"/>
            <a:ext cx="10972800" cy="640080"/>
          </a:xfrm>
          <a:prstGeom prst="rect">
            <a:avLst/>
          </a:prstGeom>
          <a:noFill/>
          <a:ln/>
        </p:spPr>
        <p:txBody>
          <a:bodyPr wrap="square" rtlCol="0" anchor="ctr"/>
          <a:lstStyle/>
          <a:p>
            <a:pPr marL="0" indent="0">
              <a:buNone/>
            </a:pPr>
            <a:r>
              <a:rPr lang="en-US" sz="3000" b="1" dirty="0">
                <a:solidFill>
                  <a:srgbClr val="1A2E22"/>
                </a:solidFill>
                <a:latin typeface="Cambria" pitchFamily="34" charset="0"/>
                <a:ea typeface="Cambria" pitchFamily="34" charset="-122"/>
                <a:cs typeface="Cambria" pitchFamily="34" charset="-120"/>
              </a:rPr>
              <a:t>Exploring the Data Uncovered Clear Patterns</a:t>
            </a:r>
            <a:endParaRPr lang="en-US" sz="3000" dirty="0"/>
          </a:p>
        </p:txBody>
      </p:sp>
      <p:sp>
        <p:nvSpPr>
          <p:cNvPr id="4" name="Text 2"/>
          <p:cNvSpPr/>
          <p:nvPr/>
        </p:nvSpPr>
        <p:spPr>
          <a:xfrm>
            <a:off x="548640" y="1371600"/>
            <a:ext cx="10789920" cy="365760"/>
          </a:xfrm>
          <a:prstGeom prst="rect">
            <a:avLst/>
          </a:prstGeom>
          <a:noFill/>
          <a:ln/>
        </p:spPr>
        <p:txBody>
          <a:bodyPr wrap="square" rtlCol="0" anchor="ctr"/>
          <a:lstStyle/>
          <a:p>
            <a:pPr marL="0" indent="0">
              <a:buNone/>
            </a:pPr>
            <a:r>
              <a:rPr lang="en-US" sz="1350" dirty="0">
                <a:solidFill>
                  <a:srgbClr val="5B6B60"/>
                </a:solidFill>
                <a:latin typeface="Calibri" pitchFamily="34" charset="0"/>
                <a:ea typeface="Calibri" pitchFamily="34" charset="-122"/>
                <a:cs typeface="Calibri" pitchFamily="34" charset="-120"/>
              </a:rPr>
              <a:t>Distributions, correlations, and outlier checks across every numeric feature pointed to three consistent drivers of yield.</a:t>
            </a:r>
            <a:endParaRPr lang="en-US" sz="1350" dirty="0"/>
          </a:p>
        </p:txBody>
      </p:sp>
      <p:sp>
        <p:nvSpPr>
          <p:cNvPr id="5" name="Shape 3"/>
          <p:cNvSpPr/>
          <p:nvPr/>
        </p:nvSpPr>
        <p:spPr>
          <a:xfrm>
            <a:off x="548640" y="1965960"/>
            <a:ext cx="3520440" cy="3520440"/>
          </a:xfrm>
          <a:prstGeom prst="roundRect">
            <a:avLst>
              <a:gd name="adj" fmla="val 2597"/>
            </a:avLst>
          </a:prstGeom>
          <a:solidFill>
            <a:srgbClr val="F4F7F1"/>
          </a:solidFill>
          <a:ln/>
        </p:spPr>
        <p:txBody>
          <a:bodyPr/>
          <a:lstStyle/>
          <a:p>
            <a:endParaRPr lang="en-US"/>
          </a:p>
        </p:txBody>
      </p:sp>
      <p:sp>
        <p:nvSpPr>
          <p:cNvPr id="6" name="Shape 4"/>
          <p:cNvSpPr/>
          <p:nvPr/>
        </p:nvSpPr>
        <p:spPr>
          <a:xfrm>
            <a:off x="822960" y="2240280"/>
            <a:ext cx="594360" cy="594360"/>
          </a:xfrm>
          <a:prstGeom prst="ellipse">
            <a:avLst/>
          </a:prstGeom>
          <a:solidFill>
            <a:srgbClr val="1F3D2C"/>
          </a:solidFill>
          <a:ln/>
        </p:spPr>
        <p:txBody>
          <a:bodyPr/>
          <a:lstStyle/>
          <a:p>
            <a:endParaRPr lang="en-US"/>
          </a:p>
        </p:txBody>
      </p:sp>
      <p:pic>
        <p:nvPicPr>
          <p:cNvPr id="7" name="Image 0" descr="/home/claude/proj/icons/cloudrain_white.png"/>
          <p:cNvPicPr>
            <a:picLocks noChangeAspect="1"/>
          </p:cNvPicPr>
          <p:nvPr/>
        </p:nvPicPr>
        <p:blipFill>
          <a:blip r:embed="rId3"/>
          <a:stretch>
            <a:fillRect/>
          </a:stretch>
        </p:blipFill>
        <p:spPr>
          <a:xfrm>
            <a:off x="894283" y="2311603"/>
            <a:ext cx="451714" cy="451714"/>
          </a:xfrm>
          <a:prstGeom prst="rect">
            <a:avLst/>
          </a:prstGeom>
        </p:spPr>
      </p:pic>
      <p:sp>
        <p:nvSpPr>
          <p:cNvPr id="8" name="Text 5"/>
          <p:cNvSpPr/>
          <p:nvPr/>
        </p:nvSpPr>
        <p:spPr>
          <a:xfrm>
            <a:off x="822960" y="2971800"/>
            <a:ext cx="2971800" cy="64008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Rainfall Has a Threshold</a:t>
            </a:r>
            <a:endParaRPr lang="en-US" sz="1450" dirty="0"/>
          </a:p>
        </p:txBody>
      </p:sp>
      <p:sp>
        <p:nvSpPr>
          <p:cNvPr id="9" name="Text 6"/>
          <p:cNvSpPr/>
          <p:nvPr/>
        </p:nvSpPr>
        <p:spPr>
          <a:xfrm>
            <a:off x="822960" y="3611880"/>
            <a:ext cx="2971800" cy="1737360"/>
          </a:xfrm>
          <a:prstGeom prst="rect">
            <a:avLst/>
          </a:prstGeom>
          <a:noFill/>
          <a:ln/>
        </p:spPr>
        <p:txBody>
          <a:bodyPr wrap="square" rtlCol="0" anchor="ctr"/>
          <a:lstStyle/>
          <a:p>
            <a:pPr marL="0" indent="0">
              <a:lnSpc>
                <a:spcPct val="125000"/>
              </a:lnSpc>
              <a:buNone/>
            </a:pPr>
            <a:r>
              <a:rPr lang="en-US" sz="1250" dirty="0">
                <a:solidFill>
                  <a:srgbClr val="5B6B60"/>
                </a:solidFill>
                <a:latin typeface="Calibri" pitchFamily="34" charset="0"/>
                <a:ea typeface="Calibri" pitchFamily="34" charset="-122"/>
                <a:cs typeface="Calibri" pitchFamily="34" charset="-120"/>
              </a:rPr>
              <a:t>Yield climbs with rainfall up to roughly 2,000–2,500 mm, then drops off sharply beyond it.</a:t>
            </a:r>
            <a:endParaRPr lang="en-US" sz="1250" dirty="0"/>
          </a:p>
        </p:txBody>
      </p:sp>
      <p:sp>
        <p:nvSpPr>
          <p:cNvPr id="10" name="Shape 7"/>
          <p:cNvSpPr/>
          <p:nvPr/>
        </p:nvSpPr>
        <p:spPr>
          <a:xfrm>
            <a:off x="4343400" y="1965960"/>
            <a:ext cx="3520440" cy="3520440"/>
          </a:xfrm>
          <a:prstGeom prst="roundRect">
            <a:avLst>
              <a:gd name="adj" fmla="val 2597"/>
            </a:avLst>
          </a:prstGeom>
          <a:solidFill>
            <a:srgbClr val="F4F7F1"/>
          </a:solidFill>
          <a:ln/>
        </p:spPr>
        <p:txBody>
          <a:bodyPr/>
          <a:lstStyle/>
          <a:p>
            <a:endParaRPr lang="en-US"/>
          </a:p>
        </p:txBody>
      </p:sp>
      <p:sp>
        <p:nvSpPr>
          <p:cNvPr id="11" name="Shape 8"/>
          <p:cNvSpPr/>
          <p:nvPr/>
        </p:nvSpPr>
        <p:spPr>
          <a:xfrm>
            <a:off x="4617720" y="2240280"/>
            <a:ext cx="594360" cy="594360"/>
          </a:xfrm>
          <a:prstGeom prst="ellipse">
            <a:avLst/>
          </a:prstGeom>
          <a:solidFill>
            <a:srgbClr val="1F3D2C"/>
          </a:solidFill>
          <a:ln/>
        </p:spPr>
        <p:txBody>
          <a:bodyPr/>
          <a:lstStyle/>
          <a:p>
            <a:endParaRPr lang="en-US"/>
          </a:p>
        </p:txBody>
      </p:sp>
      <p:pic>
        <p:nvPicPr>
          <p:cNvPr id="12" name="Image 1" descr="/home/claude/proj/icons/chartline_white.png"/>
          <p:cNvPicPr>
            <a:picLocks noChangeAspect="1"/>
          </p:cNvPicPr>
          <p:nvPr/>
        </p:nvPicPr>
        <p:blipFill>
          <a:blip r:embed="rId4"/>
          <a:stretch>
            <a:fillRect/>
          </a:stretch>
        </p:blipFill>
        <p:spPr>
          <a:xfrm>
            <a:off x="4689043" y="2311603"/>
            <a:ext cx="451714" cy="451714"/>
          </a:xfrm>
          <a:prstGeom prst="rect">
            <a:avLst/>
          </a:prstGeom>
        </p:spPr>
      </p:pic>
      <p:sp>
        <p:nvSpPr>
          <p:cNvPr id="13" name="Text 9"/>
          <p:cNvSpPr/>
          <p:nvPr/>
        </p:nvSpPr>
        <p:spPr>
          <a:xfrm>
            <a:off x="4617720" y="2971800"/>
            <a:ext cx="2971800" cy="64008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Temperature Sweet Spot</a:t>
            </a:r>
            <a:endParaRPr lang="en-US" sz="1450" dirty="0"/>
          </a:p>
        </p:txBody>
      </p:sp>
      <p:sp>
        <p:nvSpPr>
          <p:cNvPr id="14" name="Text 10"/>
          <p:cNvSpPr/>
          <p:nvPr/>
        </p:nvSpPr>
        <p:spPr>
          <a:xfrm>
            <a:off x="4617720" y="3611880"/>
            <a:ext cx="2971800" cy="1737360"/>
          </a:xfrm>
          <a:prstGeom prst="rect">
            <a:avLst/>
          </a:prstGeom>
          <a:noFill/>
          <a:ln/>
        </p:spPr>
        <p:txBody>
          <a:bodyPr wrap="square" rtlCol="0" anchor="ctr"/>
          <a:lstStyle/>
          <a:p>
            <a:pPr marL="0" indent="0">
              <a:lnSpc>
                <a:spcPct val="125000"/>
              </a:lnSpc>
              <a:buNone/>
            </a:pPr>
            <a:r>
              <a:rPr lang="en-US" sz="1250" dirty="0">
                <a:solidFill>
                  <a:srgbClr val="5B6B60"/>
                </a:solidFill>
                <a:latin typeface="Calibri" pitchFamily="34" charset="0"/>
                <a:ea typeface="Calibri" pitchFamily="34" charset="-122"/>
                <a:cs typeface="Calibri" pitchFamily="34" charset="-120"/>
              </a:rPr>
              <a:t>The highest yields cluster consistently between 20°C and 25°C average temperature.</a:t>
            </a:r>
            <a:endParaRPr lang="en-US" sz="1250" dirty="0"/>
          </a:p>
        </p:txBody>
      </p:sp>
      <p:sp>
        <p:nvSpPr>
          <p:cNvPr id="15" name="Shape 11"/>
          <p:cNvSpPr/>
          <p:nvPr/>
        </p:nvSpPr>
        <p:spPr>
          <a:xfrm>
            <a:off x="8138160" y="1965960"/>
            <a:ext cx="3520440" cy="3520440"/>
          </a:xfrm>
          <a:prstGeom prst="roundRect">
            <a:avLst>
              <a:gd name="adj" fmla="val 2597"/>
            </a:avLst>
          </a:prstGeom>
          <a:solidFill>
            <a:srgbClr val="F4F7F1"/>
          </a:solidFill>
          <a:ln/>
        </p:spPr>
        <p:txBody>
          <a:bodyPr/>
          <a:lstStyle/>
          <a:p>
            <a:endParaRPr lang="en-US"/>
          </a:p>
        </p:txBody>
      </p:sp>
      <p:sp>
        <p:nvSpPr>
          <p:cNvPr id="16" name="Shape 12"/>
          <p:cNvSpPr/>
          <p:nvPr/>
        </p:nvSpPr>
        <p:spPr>
          <a:xfrm>
            <a:off x="8412480" y="2240280"/>
            <a:ext cx="594360" cy="594360"/>
          </a:xfrm>
          <a:prstGeom prst="ellipse">
            <a:avLst/>
          </a:prstGeom>
          <a:solidFill>
            <a:srgbClr val="1F3D2C"/>
          </a:solidFill>
          <a:ln/>
        </p:spPr>
        <p:txBody>
          <a:bodyPr/>
          <a:lstStyle/>
          <a:p>
            <a:endParaRPr lang="en-US"/>
          </a:p>
        </p:txBody>
      </p:sp>
      <p:pic>
        <p:nvPicPr>
          <p:cNvPr id="17" name="Image 2" descr="/home/claude/proj/icons/tint_white.png"/>
          <p:cNvPicPr>
            <a:picLocks noChangeAspect="1"/>
          </p:cNvPicPr>
          <p:nvPr/>
        </p:nvPicPr>
        <p:blipFill>
          <a:blip r:embed="rId5"/>
          <a:stretch>
            <a:fillRect/>
          </a:stretch>
        </p:blipFill>
        <p:spPr>
          <a:xfrm>
            <a:off x="8483803" y="2311603"/>
            <a:ext cx="451714" cy="451714"/>
          </a:xfrm>
          <a:prstGeom prst="rect">
            <a:avLst/>
          </a:prstGeom>
        </p:spPr>
      </p:pic>
      <p:sp>
        <p:nvSpPr>
          <p:cNvPr id="18" name="Text 13"/>
          <p:cNvSpPr/>
          <p:nvPr/>
        </p:nvSpPr>
        <p:spPr>
          <a:xfrm>
            <a:off x="8412480" y="2971800"/>
            <a:ext cx="2971800" cy="640080"/>
          </a:xfrm>
          <a:prstGeom prst="rect">
            <a:avLst/>
          </a:prstGeom>
          <a:noFill/>
          <a:ln/>
        </p:spPr>
        <p:txBody>
          <a:bodyPr wrap="square" rtlCol="0" anchor="ctr"/>
          <a:lstStyle/>
          <a:p>
            <a:pPr marL="0" indent="0">
              <a:buNone/>
            </a:pPr>
            <a:r>
              <a:rPr lang="en-US" sz="1450" b="1" dirty="0">
                <a:solidFill>
                  <a:srgbClr val="1A2E22"/>
                </a:solidFill>
                <a:latin typeface="Calibri" pitchFamily="34" charset="0"/>
                <a:ea typeface="Calibri" pitchFamily="34" charset="-122"/>
                <a:cs typeface="Calibri" pitchFamily="34" charset="-120"/>
              </a:rPr>
              <a:t>Fertilizer, Diminishing Returns</a:t>
            </a:r>
            <a:endParaRPr lang="en-US" sz="1450" dirty="0"/>
          </a:p>
        </p:txBody>
      </p:sp>
      <p:sp>
        <p:nvSpPr>
          <p:cNvPr id="19" name="Text 14"/>
          <p:cNvSpPr/>
          <p:nvPr/>
        </p:nvSpPr>
        <p:spPr>
          <a:xfrm>
            <a:off x="8412480" y="3611880"/>
            <a:ext cx="2971800" cy="1737360"/>
          </a:xfrm>
          <a:prstGeom prst="rect">
            <a:avLst/>
          </a:prstGeom>
          <a:noFill/>
          <a:ln/>
        </p:spPr>
        <p:txBody>
          <a:bodyPr wrap="square" rtlCol="0" anchor="ctr"/>
          <a:lstStyle/>
          <a:p>
            <a:pPr marL="0" indent="0">
              <a:lnSpc>
                <a:spcPct val="125000"/>
              </a:lnSpc>
              <a:buNone/>
            </a:pPr>
            <a:r>
              <a:rPr lang="en-US" sz="1250" dirty="0">
                <a:solidFill>
                  <a:srgbClr val="5B6B60"/>
                </a:solidFill>
                <a:latin typeface="Calibri" pitchFamily="34" charset="0"/>
                <a:ea typeface="Calibri" pitchFamily="34" charset="-122"/>
                <a:cs typeface="Calibri" pitchFamily="34" charset="-120"/>
              </a:rPr>
              <a:t>Fertilizer use has surged for two decades, but average yield hasn't risen proportionally.</a:t>
            </a:r>
            <a:endParaRPr lang="en-US" sz="1250" dirty="0"/>
          </a:p>
        </p:txBody>
      </p:sp>
      <p:sp>
        <p:nvSpPr>
          <p:cNvPr id="20" name="Text 15"/>
          <p:cNvSpPr/>
          <p:nvPr/>
        </p:nvSpPr>
        <p:spPr>
          <a:xfrm>
            <a:off x="548640" y="5715000"/>
            <a:ext cx="10789920" cy="457200"/>
          </a:xfrm>
          <a:prstGeom prst="rect">
            <a:avLst/>
          </a:prstGeom>
          <a:noFill/>
          <a:ln/>
        </p:spPr>
        <p:txBody>
          <a:bodyPr wrap="square" rtlCol="0" anchor="ctr"/>
          <a:lstStyle/>
          <a:p>
            <a:pPr marL="0" indent="0">
              <a:buNone/>
            </a:pPr>
            <a:r>
              <a:rPr lang="en-US" sz="1250" i="1" dirty="0">
                <a:solidFill>
                  <a:srgbClr val="5B6B60"/>
                </a:solidFill>
                <a:latin typeface="Calibri" pitchFamily="34" charset="0"/>
                <a:ea typeface="Calibri" pitchFamily="34" charset="-122"/>
                <a:cs typeface="Calibri" pitchFamily="34" charset="-120"/>
              </a:rPr>
              <a:t>These patterns, confirmed later in the interactive dashboard, directly shaped both our recommendations and our model's feature set.</a:t>
            </a:r>
            <a:endParaRPr lang="en-US" sz="1250" dirty="0"/>
          </a:p>
        </p:txBody>
      </p:sp>
      <p:sp>
        <p:nvSpPr>
          <p:cNvPr id="21" name="Text 1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22" name="Text 17"/>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STEP 2 · EXPLORATION</a:t>
            </a:r>
            <a:endParaRPr lang="en-US" sz="1200" dirty="0"/>
          </a:p>
        </p:txBody>
      </p:sp>
      <p:sp>
        <p:nvSpPr>
          <p:cNvPr id="3" name="Text 1"/>
          <p:cNvSpPr/>
          <p:nvPr/>
        </p:nvSpPr>
        <p:spPr>
          <a:xfrm>
            <a:off x="548640" y="749808"/>
            <a:ext cx="10972800" cy="640080"/>
          </a:xfrm>
          <a:prstGeom prst="rect">
            <a:avLst/>
          </a:prstGeom>
          <a:noFill/>
          <a:ln/>
        </p:spPr>
        <p:txBody>
          <a:bodyPr wrap="square" rtlCol="0" anchor="ctr"/>
          <a:lstStyle/>
          <a:p>
            <a:pPr marL="0" indent="0">
              <a:buNone/>
            </a:pPr>
            <a:r>
              <a:rPr lang="en-US" sz="3200" b="1" dirty="0">
                <a:solidFill>
                  <a:srgbClr val="1A2E22"/>
                </a:solidFill>
                <a:latin typeface="Cambria" pitchFamily="34" charset="0"/>
                <a:ea typeface="Cambria" pitchFamily="34" charset="-122"/>
                <a:cs typeface="Cambria" pitchFamily="34" charset="-120"/>
              </a:rPr>
              <a:t>Where and What Drives Production</a:t>
            </a:r>
            <a:endParaRPr lang="en-US" sz="3200" dirty="0"/>
          </a:p>
        </p:txBody>
      </p:sp>
      <p:sp>
        <p:nvSpPr>
          <p:cNvPr id="4" name="Shape 2"/>
          <p:cNvSpPr/>
          <p:nvPr/>
        </p:nvSpPr>
        <p:spPr>
          <a:xfrm>
            <a:off x="548640" y="1508760"/>
            <a:ext cx="2606040" cy="1051560"/>
          </a:xfrm>
          <a:prstGeom prst="roundRect">
            <a:avLst>
              <a:gd name="adj" fmla="val 8696"/>
            </a:avLst>
          </a:prstGeom>
          <a:solidFill>
            <a:srgbClr val="1F3D2C"/>
          </a:solidFill>
          <a:ln/>
        </p:spPr>
        <p:txBody>
          <a:bodyPr/>
          <a:lstStyle/>
          <a:p>
            <a:endParaRPr lang="en-US"/>
          </a:p>
        </p:txBody>
      </p:sp>
      <p:sp>
        <p:nvSpPr>
          <p:cNvPr id="5" name="Text 3"/>
          <p:cNvSpPr/>
          <p:nvPr/>
        </p:nvSpPr>
        <p:spPr>
          <a:xfrm>
            <a:off x="685800" y="1572768"/>
            <a:ext cx="2331720" cy="502920"/>
          </a:xfrm>
          <a:prstGeom prst="rect">
            <a:avLst/>
          </a:prstGeom>
          <a:noFill/>
          <a:ln/>
        </p:spPr>
        <p:txBody>
          <a:bodyPr wrap="square" rtlCol="0" anchor="ctr"/>
          <a:lstStyle/>
          <a:p>
            <a:pPr marL="0" indent="0">
              <a:buNone/>
            </a:pPr>
            <a:r>
              <a:rPr lang="en-US" sz="2400" b="1" dirty="0">
                <a:solidFill>
                  <a:srgbClr val="D9A441"/>
                </a:solidFill>
                <a:latin typeface="Cambria" pitchFamily="34" charset="0"/>
                <a:ea typeface="Cambria" pitchFamily="34" charset="-122"/>
                <a:cs typeface="Cambria" pitchFamily="34" charset="-120"/>
              </a:rPr>
              <a:t>15bn</a:t>
            </a:r>
            <a:endParaRPr lang="en-US" sz="2400" dirty="0"/>
          </a:p>
        </p:txBody>
      </p:sp>
      <p:sp>
        <p:nvSpPr>
          <p:cNvPr id="6" name="Text 4"/>
          <p:cNvSpPr/>
          <p:nvPr/>
        </p:nvSpPr>
        <p:spPr>
          <a:xfrm>
            <a:off x="685800" y="2084832"/>
            <a:ext cx="2331720" cy="365760"/>
          </a:xfrm>
          <a:prstGeom prst="rect">
            <a:avLst/>
          </a:prstGeom>
          <a:noFill/>
          <a:ln/>
        </p:spPr>
        <p:txBody>
          <a:bodyPr wrap="square" rtlCol="0" anchor="ctr"/>
          <a:lstStyle/>
          <a:p>
            <a:pPr marL="0" indent="0">
              <a:buNone/>
            </a:pPr>
            <a:r>
              <a:rPr lang="en-US" sz="1050" dirty="0">
                <a:solidFill>
                  <a:srgbClr val="E7F0DE"/>
                </a:solidFill>
                <a:latin typeface="Calibri" pitchFamily="34" charset="0"/>
                <a:ea typeface="Calibri" pitchFamily="34" charset="-122"/>
                <a:cs typeface="Calibri" pitchFamily="34" charset="-120"/>
              </a:rPr>
              <a:t>Total Production</a:t>
            </a:r>
            <a:endParaRPr lang="en-US" sz="1050" dirty="0"/>
          </a:p>
        </p:txBody>
      </p:sp>
      <p:sp>
        <p:nvSpPr>
          <p:cNvPr id="7" name="Shape 5"/>
          <p:cNvSpPr/>
          <p:nvPr/>
        </p:nvSpPr>
        <p:spPr>
          <a:xfrm>
            <a:off x="3337560" y="1508760"/>
            <a:ext cx="2606040" cy="1051560"/>
          </a:xfrm>
          <a:prstGeom prst="roundRect">
            <a:avLst>
              <a:gd name="adj" fmla="val 8696"/>
            </a:avLst>
          </a:prstGeom>
          <a:solidFill>
            <a:srgbClr val="1F3D2C"/>
          </a:solidFill>
          <a:ln/>
        </p:spPr>
        <p:txBody>
          <a:bodyPr/>
          <a:lstStyle/>
          <a:p>
            <a:endParaRPr lang="en-US"/>
          </a:p>
        </p:txBody>
      </p:sp>
      <p:sp>
        <p:nvSpPr>
          <p:cNvPr id="8" name="Text 6"/>
          <p:cNvSpPr/>
          <p:nvPr/>
        </p:nvSpPr>
        <p:spPr>
          <a:xfrm>
            <a:off x="3474720" y="1572768"/>
            <a:ext cx="2331720" cy="502920"/>
          </a:xfrm>
          <a:prstGeom prst="rect">
            <a:avLst/>
          </a:prstGeom>
          <a:noFill/>
          <a:ln/>
        </p:spPr>
        <p:txBody>
          <a:bodyPr wrap="square" rtlCol="0" anchor="ctr"/>
          <a:lstStyle/>
          <a:p>
            <a:pPr marL="0" indent="0">
              <a:buNone/>
            </a:pPr>
            <a:r>
              <a:rPr lang="en-US" sz="2400" b="1" dirty="0">
                <a:solidFill>
                  <a:srgbClr val="D9A441"/>
                </a:solidFill>
                <a:latin typeface="Cambria" pitchFamily="34" charset="0"/>
                <a:ea typeface="Cambria" pitchFamily="34" charset="-122"/>
                <a:cs typeface="Cambria" pitchFamily="34" charset="-120"/>
              </a:rPr>
              <a:t>4.32</a:t>
            </a:r>
            <a:endParaRPr lang="en-US" sz="2400" dirty="0"/>
          </a:p>
        </p:txBody>
      </p:sp>
      <p:sp>
        <p:nvSpPr>
          <p:cNvPr id="9" name="Text 7"/>
          <p:cNvSpPr/>
          <p:nvPr/>
        </p:nvSpPr>
        <p:spPr>
          <a:xfrm>
            <a:off x="3474720" y="2084832"/>
            <a:ext cx="2331720" cy="365760"/>
          </a:xfrm>
          <a:prstGeom prst="rect">
            <a:avLst/>
          </a:prstGeom>
          <a:noFill/>
          <a:ln/>
        </p:spPr>
        <p:txBody>
          <a:bodyPr wrap="square" rtlCol="0" anchor="ctr"/>
          <a:lstStyle/>
          <a:p>
            <a:pPr marL="0" indent="0">
              <a:buNone/>
            </a:pPr>
            <a:r>
              <a:rPr lang="en-US" sz="1050" dirty="0">
                <a:solidFill>
                  <a:srgbClr val="E7F0DE"/>
                </a:solidFill>
                <a:latin typeface="Calibri" pitchFamily="34" charset="0"/>
                <a:ea typeface="Calibri" pitchFamily="34" charset="-122"/>
                <a:cs typeface="Calibri" pitchFamily="34" charset="-120"/>
              </a:rPr>
              <a:t>Average Yield</a:t>
            </a:r>
            <a:endParaRPr lang="en-US" sz="1050" dirty="0"/>
          </a:p>
        </p:txBody>
      </p:sp>
      <p:sp>
        <p:nvSpPr>
          <p:cNvPr id="10" name="Shape 8"/>
          <p:cNvSpPr/>
          <p:nvPr/>
        </p:nvSpPr>
        <p:spPr>
          <a:xfrm>
            <a:off x="6126480" y="1508760"/>
            <a:ext cx="2606040" cy="1051560"/>
          </a:xfrm>
          <a:prstGeom prst="roundRect">
            <a:avLst>
              <a:gd name="adj" fmla="val 8696"/>
            </a:avLst>
          </a:prstGeom>
          <a:solidFill>
            <a:srgbClr val="1F3D2C"/>
          </a:solidFill>
          <a:ln/>
        </p:spPr>
        <p:txBody>
          <a:bodyPr/>
          <a:lstStyle/>
          <a:p>
            <a:endParaRPr lang="en-US"/>
          </a:p>
        </p:txBody>
      </p:sp>
      <p:sp>
        <p:nvSpPr>
          <p:cNvPr id="11" name="Text 9"/>
          <p:cNvSpPr/>
          <p:nvPr/>
        </p:nvSpPr>
        <p:spPr>
          <a:xfrm>
            <a:off x="6263640" y="1572768"/>
            <a:ext cx="2331720" cy="502920"/>
          </a:xfrm>
          <a:prstGeom prst="rect">
            <a:avLst/>
          </a:prstGeom>
          <a:noFill/>
          <a:ln/>
        </p:spPr>
        <p:txBody>
          <a:bodyPr wrap="square" rtlCol="0" anchor="ctr"/>
          <a:lstStyle/>
          <a:p>
            <a:pPr marL="0" indent="0">
              <a:buNone/>
            </a:pPr>
            <a:r>
              <a:rPr lang="en-US" sz="2400" b="1" dirty="0">
                <a:solidFill>
                  <a:srgbClr val="D9A441"/>
                </a:solidFill>
                <a:latin typeface="Cambria" pitchFamily="34" charset="0"/>
                <a:ea typeface="Cambria" pitchFamily="34" charset="-122"/>
                <a:cs typeface="Cambria" pitchFamily="34" charset="-120"/>
              </a:rPr>
              <a:t>30</a:t>
            </a:r>
            <a:endParaRPr lang="en-US" sz="2400" dirty="0"/>
          </a:p>
        </p:txBody>
      </p:sp>
      <p:sp>
        <p:nvSpPr>
          <p:cNvPr id="12" name="Text 10"/>
          <p:cNvSpPr/>
          <p:nvPr/>
        </p:nvSpPr>
        <p:spPr>
          <a:xfrm>
            <a:off x="6263640" y="2084832"/>
            <a:ext cx="2331720" cy="365760"/>
          </a:xfrm>
          <a:prstGeom prst="rect">
            <a:avLst/>
          </a:prstGeom>
          <a:noFill/>
          <a:ln/>
        </p:spPr>
        <p:txBody>
          <a:bodyPr wrap="square" rtlCol="0" anchor="ctr"/>
          <a:lstStyle/>
          <a:p>
            <a:pPr marL="0" indent="0">
              <a:buNone/>
            </a:pPr>
            <a:r>
              <a:rPr lang="en-US" sz="1050" dirty="0">
                <a:solidFill>
                  <a:srgbClr val="E7F0DE"/>
                </a:solidFill>
                <a:latin typeface="Calibri" pitchFamily="34" charset="0"/>
                <a:ea typeface="Calibri" pitchFamily="34" charset="-122"/>
                <a:cs typeface="Calibri" pitchFamily="34" charset="-120"/>
              </a:rPr>
              <a:t>States Covered</a:t>
            </a:r>
            <a:endParaRPr lang="en-US" sz="1050" dirty="0"/>
          </a:p>
        </p:txBody>
      </p:sp>
      <p:sp>
        <p:nvSpPr>
          <p:cNvPr id="13" name="Shape 11"/>
          <p:cNvSpPr/>
          <p:nvPr/>
        </p:nvSpPr>
        <p:spPr>
          <a:xfrm>
            <a:off x="8915400" y="1508760"/>
            <a:ext cx="2606040" cy="1051560"/>
          </a:xfrm>
          <a:prstGeom prst="roundRect">
            <a:avLst>
              <a:gd name="adj" fmla="val 8696"/>
            </a:avLst>
          </a:prstGeom>
          <a:solidFill>
            <a:srgbClr val="1F3D2C"/>
          </a:solidFill>
          <a:ln/>
        </p:spPr>
        <p:txBody>
          <a:bodyPr/>
          <a:lstStyle/>
          <a:p>
            <a:endParaRPr lang="en-US"/>
          </a:p>
        </p:txBody>
      </p:sp>
      <p:sp>
        <p:nvSpPr>
          <p:cNvPr id="14" name="Text 12"/>
          <p:cNvSpPr/>
          <p:nvPr/>
        </p:nvSpPr>
        <p:spPr>
          <a:xfrm>
            <a:off x="9052560" y="1572768"/>
            <a:ext cx="2331720" cy="502920"/>
          </a:xfrm>
          <a:prstGeom prst="rect">
            <a:avLst/>
          </a:prstGeom>
          <a:noFill/>
          <a:ln/>
        </p:spPr>
        <p:txBody>
          <a:bodyPr wrap="square" rtlCol="0" anchor="ctr"/>
          <a:lstStyle/>
          <a:p>
            <a:pPr marL="0" indent="0">
              <a:buNone/>
            </a:pPr>
            <a:r>
              <a:rPr lang="en-US" sz="2400" b="1" dirty="0">
                <a:solidFill>
                  <a:srgbClr val="D9A441"/>
                </a:solidFill>
                <a:latin typeface="Cambria" pitchFamily="34" charset="0"/>
                <a:ea typeface="Cambria" pitchFamily="34" charset="-122"/>
                <a:cs typeface="Cambria" pitchFamily="34" charset="-120"/>
              </a:rPr>
              <a:t>55</a:t>
            </a:r>
            <a:endParaRPr lang="en-US" sz="2400" dirty="0"/>
          </a:p>
        </p:txBody>
      </p:sp>
      <p:sp>
        <p:nvSpPr>
          <p:cNvPr id="15" name="Text 13"/>
          <p:cNvSpPr/>
          <p:nvPr/>
        </p:nvSpPr>
        <p:spPr>
          <a:xfrm>
            <a:off x="9052560" y="2084832"/>
            <a:ext cx="2331720" cy="365760"/>
          </a:xfrm>
          <a:prstGeom prst="rect">
            <a:avLst/>
          </a:prstGeom>
          <a:noFill/>
          <a:ln/>
        </p:spPr>
        <p:txBody>
          <a:bodyPr wrap="square" rtlCol="0" anchor="ctr"/>
          <a:lstStyle/>
          <a:p>
            <a:pPr marL="0" indent="0">
              <a:buNone/>
            </a:pPr>
            <a:r>
              <a:rPr lang="en-US" sz="1050" dirty="0">
                <a:solidFill>
                  <a:srgbClr val="E7F0DE"/>
                </a:solidFill>
                <a:latin typeface="Calibri" pitchFamily="34" charset="0"/>
                <a:ea typeface="Calibri" pitchFamily="34" charset="-122"/>
                <a:cs typeface="Calibri" pitchFamily="34" charset="-120"/>
              </a:rPr>
              <a:t>Crops Tracked</a:t>
            </a:r>
            <a:endParaRPr lang="en-US" sz="1050" dirty="0"/>
          </a:p>
        </p:txBody>
      </p:sp>
      <p:sp>
        <p:nvSpPr>
          <p:cNvPr id="16" name="Text 14"/>
          <p:cNvSpPr/>
          <p:nvPr/>
        </p:nvSpPr>
        <p:spPr>
          <a:xfrm>
            <a:off x="548640" y="2880360"/>
            <a:ext cx="5120640" cy="365760"/>
          </a:xfrm>
          <a:prstGeom prst="rect">
            <a:avLst/>
          </a:prstGeom>
          <a:noFill/>
          <a:ln/>
        </p:spPr>
        <p:txBody>
          <a:bodyPr wrap="square" rtlCol="0" anchor="ctr"/>
          <a:lstStyle/>
          <a:p>
            <a:pPr marL="0" indent="0">
              <a:buNone/>
            </a:pPr>
            <a:r>
              <a:rPr lang="en-US" sz="1500" b="1" dirty="0">
                <a:solidFill>
                  <a:srgbClr val="1A2E22"/>
                </a:solidFill>
                <a:latin typeface="Calibri" pitchFamily="34" charset="0"/>
                <a:ea typeface="Calibri" pitchFamily="34" charset="-122"/>
                <a:cs typeface="Calibri" pitchFamily="34" charset="-120"/>
              </a:rPr>
              <a:t>Top Producing States</a:t>
            </a:r>
            <a:endParaRPr lang="en-US" sz="1500" dirty="0"/>
          </a:p>
        </p:txBody>
      </p:sp>
      <p:sp>
        <p:nvSpPr>
          <p:cNvPr id="17" name="Shape 15"/>
          <p:cNvSpPr/>
          <p:nvPr/>
        </p:nvSpPr>
        <p:spPr>
          <a:xfrm>
            <a:off x="548640" y="3337560"/>
            <a:ext cx="5120640" cy="438912"/>
          </a:xfrm>
          <a:prstGeom prst="roundRect">
            <a:avLst>
              <a:gd name="adj" fmla="val 12500"/>
            </a:avLst>
          </a:prstGeom>
          <a:solidFill>
            <a:srgbClr val="F4F7F1"/>
          </a:solidFill>
          <a:ln/>
        </p:spPr>
        <p:txBody>
          <a:bodyPr/>
          <a:lstStyle/>
          <a:p>
            <a:endParaRPr lang="en-US"/>
          </a:p>
        </p:txBody>
      </p:sp>
      <p:sp>
        <p:nvSpPr>
          <p:cNvPr id="18" name="Text 16"/>
          <p:cNvSpPr/>
          <p:nvPr/>
        </p:nvSpPr>
        <p:spPr>
          <a:xfrm>
            <a:off x="685800" y="3337560"/>
            <a:ext cx="365760" cy="438912"/>
          </a:xfrm>
          <a:prstGeom prst="rect">
            <a:avLst/>
          </a:prstGeom>
          <a:noFill/>
          <a:ln/>
        </p:spPr>
        <p:txBody>
          <a:bodyPr wrap="square" rtlCol="0" anchor="ctr"/>
          <a:lstStyle/>
          <a:p>
            <a:pPr marL="0" indent="0">
              <a:buNone/>
            </a:pPr>
            <a:r>
              <a:rPr lang="en-US" sz="1400" b="1" dirty="0">
                <a:solidFill>
                  <a:srgbClr val="7FA65C"/>
                </a:solidFill>
                <a:latin typeface="Cambria" pitchFamily="34" charset="0"/>
                <a:ea typeface="Cambria" pitchFamily="34" charset="-122"/>
                <a:cs typeface="Cambria" pitchFamily="34" charset="-120"/>
              </a:rPr>
              <a:t>1</a:t>
            </a:r>
            <a:endParaRPr lang="en-US" sz="1400" dirty="0"/>
          </a:p>
        </p:txBody>
      </p:sp>
      <p:sp>
        <p:nvSpPr>
          <p:cNvPr id="19" name="Text 17"/>
          <p:cNvSpPr/>
          <p:nvPr/>
        </p:nvSpPr>
        <p:spPr>
          <a:xfrm>
            <a:off x="1143000" y="3337560"/>
            <a:ext cx="4389120" cy="438912"/>
          </a:xfrm>
          <a:prstGeom prst="rect">
            <a:avLst/>
          </a:prstGeom>
          <a:noFill/>
          <a:ln/>
        </p:spPr>
        <p:txBody>
          <a:bodyPr wrap="square" rtlCol="0" anchor="ctr"/>
          <a:lstStyle/>
          <a:p>
            <a:pPr marL="0" indent="0">
              <a:buNone/>
            </a:pPr>
            <a:r>
              <a:rPr lang="en-US" sz="1350" dirty="0">
                <a:solidFill>
                  <a:srgbClr val="1A2E22"/>
                </a:solidFill>
                <a:latin typeface="Calibri" pitchFamily="34" charset="0"/>
                <a:ea typeface="Calibri" pitchFamily="34" charset="-122"/>
                <a:cs typeface="Calibri" pitchFamily="34" charset="-120"/>
              </a:rPr>
              <a:t>Maharashtra</a:t>
            </a:r>
            <a:endParaRPr lang="en-US" sz="1350" dirty="0"/>
          </a:p>
        </p:txBody>
      </p:sp>
      <p:sp>
        <p:nvSpPr>
          <p:cNvPr id="20" name="Shape 18"/>
          <p:cNvSpPr/>
          <p:nvPr/>
        </p:nvSpPr>
        <p:spPr>
          <a:xfrm>
            <a:off x="548640" y="3904488"/>
            <a:ext cx="5120640" cy="438912"/>
          </a:xfrm>
          <a:prstGeom prst="roundRect">
            <a:avLst>
              <a:gd name="adj" fmla="val 12500"/>
            </a:avLst>
          </a:prstGeom>
          <a:solidFill>
            <a:srgbClr val="F4F7F1"/>
          </a:solidFill>
          <a:ln/>
        </p:spPr>
        <p:txBody>
          <a:bodyPr/>
          <a:lstStyle/>
          <a:p>
            <a:endParaRPr lang="en-US"/>
          </a:p>
        </p:txBody>
      </p:sp>
      <p:sp>
        <p:nvSpPr>
          <p:cNvPr id="21" name="Text 19"/>
          <p:cNvSpPr/>
          <p:nvPr/>
        </p:nvSpPr>
        <p:spPr>
          <a:xfrm>
            <a:off x="685800" y="3904488"/>
            <a:ext cx="365760" cy="438912"/>
          </a:xfrm>
          <a:prstGeom prst="rect">
            <a:avLst/>
          </a:prstGeom>
          <a:noFill/>
          <a:ln/>
        </p:spPr>
        <p:txBody>
          <a:bodyPr wrap="square" rtlCol="0" anchor="ctr"/>
          <a:lstStyle/>
          <a:p>
            <a:pPr marL="0" indent="0">
              <a:buNone/>
            </a:pPr>
            <a:r>
              <a:rPr lang="en-US" sz="1400" b="1" dirty="0">
                <a:solidFill>
                  <a:srgbClr val="7FA65C"/>
                </a:solidFill>
                <a:latin typeface="Cambria" pitchFamily="34" charset="0"/>
                <a:ea typeface="Cambria" pitchFamily="34" charset="-122"/>
                <a:cs typeface="Cambria" pitchFamily="34" charset="-120"/>
              </a:rPr>
              <a:t>2</a:t>
            </a:r>
            <a:endParaRPr lang="en-US" sz="1400" dirty="0"/>
          </a:p>
        </p:txBody>
      </p:sp>
      <p:sp>
        <p:nvSpPr>
          <p:cNvPr id="22" name="Text 20"/>
          <p:cNvSpPr/>
          <p:nvPr/>
        </p:nvSpPr>
        <p:spPr>
          <a:xfrm>
            <a:off x="1143000" y="3904488"/>
            <a:ext cx="4389120" cy="438912"/>
          </a:xfrm>
          <a:prstGeom prst="rect">
            <a:avLst/>
          </a:prstGeom>
          <a:noFill/>
          <a:ln/>
        </p:spPr>
        <p:txBody>
          <a:bodyPr wrap="square" rtlCol="0" anchor="ctr"/>
          <a:lstStyle/>
          <a:p>
            <a:pPr marL="0" indent="0">
              <a:buNone/>
            </a:pPr>
            <a:r>
              <a:rPr lang="en-US" sz="1350" dirty="0">
                <a:solidFill>
                  <a:srgbClr val="1A2E22"/>
                </a:solidFill>
                <a:latin typeface="Calibri" pitchFamily="34" charset="0"/>
                <a:ea typeface="Calibri" pitchFamily="34" charset="-122"/>
                <a:cs typeface="Calibri" pitchFamily="34" charset="-120"/>
              </a:rPr>
              <a:t>Karnataka</a:t>
            </a:r>
            <a:endParaRPr lang="en-US" sz="1350" dirty="0"/>
          </a:p>
        </p:txBody>
      </p:sp>
      <p:sp>
        <p:nvSpPr>
          <p:cNvPr id="23" name="Shape 21"/>
          <p:cNvSpPr/>
          <p:nvPr/>
        </p:nvSpPr>
        <p:spPr>
          <a:xfrm>
            <a:off x="548640" y="4471416"/>
            <a:ext cx="5120640" cy="438912"/>
          </a:xfrm>
          <a:prstGeom prst="roundRect">
            <a:avLst>
              <a:gd name="adj" fmla="val 12500"/>
            </a:avLst>
          </a:prstGeom>
          <a:solidFill>
            <a:srgbClr val="F4F7F1"/>
          </a:solidFill>
          <a:ln/>
        </p:spPr>
        <p:txBody>
          <a:bodyPr/>
          <a:lstStyle/>
          <a:p>
            <a:endParaRPr lang="en-US"/>
          </a:p>
        </p:txBody>
      </p:sp>
      <p:sp>
        <p:nvSpPr>
          <p:cNvPr id="24" name="Text 22"/>
          <p:cNvSpPr/>
          <p:nvPr/>
        </p:nvSpPr>
        <p:spPr>
          <a:xfrm>
            <a:off x="685800" y="4471416"/>
            <a:ext cx="365760" cy="438912"/>
          </a:xfrm>
          <a:prstGeom prst="rect">
            <a:avLst/>
          </a:prstGeom>
          <a:noFill/>
          <a:ln/>
        </p:spPr>
        <p:txBody>
          <a:bodyPr wrap="square" rtlCol="0" anchor="ctr"/>
          <a:lstStyle/>
          <a:p>
            <a:pPr marL="0" indent="0">
              <a:buNone/>
            </a:pPr>
            <a:r>
              <a:rPr lang="en-US" sz="1400" b="1" dirty="0">
                <a:solidFill>
                  <a:srgbClr val="7FA65C"/>
                </a:solidFill>
                <a:latin typeface="Cambria" pitchFamily="34" charset="0"/>
                <a:ea typeface="Cambria" pitchFamily="34" charset="-122"/>
                <a:cs typeface="Cambria" pitchFamily="34" charset="-120"/>
              </a:rPr>
              <a:t>3</a:t>
            </a:r>
            <a:endParaRPr lang="en-US" sz="1400" dirty="0"/>
          </a:p>
        </p:txBody>
      </p:sp>
      <p:sp>
        <p:nvSpPr>
          <p:cNvPr id="25" name="Text 23"/>
          <p:cNvSpPr/>
          <p:nvPr/>
        </p:nvSpPr>
        <p:spPr>
          <a:xfrm>
            <a:off x="1143000" y="4471416"/>
            <a:ext cx="4389120" cy="438912"/>
          </a:xfrm>
          <a:prstGeom prst="rect">
            <a:avLst/>
          </a:prstGeom>
          <a:noFill/>
          <a:ln/>
        </p:spPr>
        <p:txBody>
          <a:bodyPr wrap="square" rtlCol="0" anchor="ctr"/>
          <a:lstStyle/>
          <a:p>
            <a:pPr marL="0" indent="0">
              <a:buNone/>
            </a:pPr>
            <a:r>
              <a:rPr lang="en-US" sz="1350" dirty="0">
                <a:solidFill>
                  <a:srgbClr val="1A2E22"/>
                </a:solidFill>
                <a:latin typeface="Calibri" pitchFamily="34" charset="0"/>
                <a:ea typeface="Calibri" pitchFamily="34" charset="-122"/>
                <a:cs typeface="Calibri" pitchFamily="34" charset="-120"/>
              </a:rPr>
              <a:t>Tamil Nadu</a:t>
            </a:r>
            <a:endParaRPr lang="en-US" sz="1350" dirty="0"/>
          </a:p>
        </p:txBody>
      </p:sp>
      <p:sp>
        <p:nvSpPr>
          <p:cNvPr id="26" name="Text 24"/>
          <p:cNvSpPr/>
          <p:nvPr/>
        </p:nvSpPr>
        <p:spPr>
          <a:xfrm>
            <a:off x="6172200" y="2880360"/>
            <a:ext cx="5120640" cy="365760"/>
          </a:xfrm>
          <a:prstGeom prst="rect">
            <a:avLst/>
          </a:prstGeom>
          <a:noFill/>
          <a:ln/>
        </p:spPr>
        <p:txBody>
          <a:bodyPr wrap="square" rtlCol="0" anchor="ctr"/>
          <a:lstStyle/>
          <a:p>
            <a:pPr marL="0" indent="0">
              <a:buNone/>
            </a:pPr>
            <a:r>
              <a:rPr lang="en-US" sz="1500" b="1" dirty="0">
                <a:solidFill>
                  <a:srgbClr val="1A2E22"/>
                </a:solidFill>
                <a:latin typeface="Calibri" pitchFamily="34" charset="0"/>
                <a:ea typeface="Calibri" pitchFamily="34" charset="-122"/>
                <a:cs typeface="Calibri" pitchFamily="34" charset="-120"/>
              </a:rPr>
              <a:t>Top Crops by Production Share</a:t>
            </a:r>
            <a:endParaRPr lang="en-US" sz="1500" dirty="0"/>
          </a:p>
        </p:txBody>
      </p:sp>
      <p:sp>
        <p:nvSpPr>
          <p:cNvPr id="27" name="Shape 25"/>
          <p:cNvSpPr/>
          <p:nvPr/>
        </p:nvSpPr>
        <p:spPr>
          <a:xfrm>
            <a:off x="6172200" y="3337560"/>
            <a:ext cx="5120640" cy="438912"/>
          </a:xfrm>
          <a:prstGeom prst="roundRect">
            <a:avLst>
              <a:gd name="adj" fmla="val 12500"/>
            </a:avLst>
          </a:prstGeom>
          <a:solidFill>
            <a:srgbClr val="F4F7F1"/>
          </a:solidFill>
          <a:ln/>
        </p:spPr>
        <p:txBody>
          <a:bodyPr/>
          <a:lstStyle/>
          <a:p>
            <a:endParaRPr lang="en-US"/>
          </a:p>
        </p:txBody>
      </p:sp>
      <p:sp>
        <p:nvSpPr>
          <p:cNvPr id="28" name="Text 26"/>
          <p:cNvSpPr/>
          <p:nvPr/>
        </p:nvSpPr>
        <p:spPr>
          <a:xfrm>
            <a:off x="6355080" y="3337560"/>
            <a:ext cx="3657600" cy="438912"/>
          </a:xfrm>
          <a:prstGeom prst="rect">
            <a:avLst/>
          </a:prstGeom>
          <a:noFill/>
          <a:ln/>
        </p:spPr>
        <p:txBody>
          <a:bodyPr wrap="square" rtlCol="0" anchor="ctr"/>
          <a:lstStyle/>
          <a:p>
            <a:pPr marL="0" indent="0">
              <a:buNone/>
            </a:pPr>
            <a:r>
              <a:rPr lang="en-US" sz="1350" dirty="0">
                <a:solidFill>
                  <a:srgbClr val="1A2E22"/>
                </a:solidFill>
                <a:latin typeface="Calibri" pitchFamily="34" charset="0"/>
                <a:ea typeface="Calibri" pitchFamily="34" charset="-122"/>
                <a:cs typeface="Calibri" pitchFamily="34" charset="-120"/>
              </a:rPr>
              <a:t>Sugarcane</a:t>
            </a:r>
            <a:endParaRPr lang="en-US" sz="1350" dirty="0"/>
          </a:p>
        </p:txBody>
      </p:sp>
      <p:sp>
        <p:nvSpPr>
          <p:cNvPr id="29" name="Text 27"/>
          <p:cNvSpPr/>
          <p:nvPr/>
        </p:nvSpPr>
        <p:spPr>
          <a:xfrm>
            <a:off x="9784080" y="3337560"/>
            <a:ext cx="1371600" cy="438912"/>
          </a:xfrm>
          <a:prstGeom prst="rect">
            <a:avLst/>
          </a:prstGeom>
          <a:noFill/>
          <a:ln/>
        </p:spPr>
        <p:txBody>
          <a:bodyPr wrap="square" rtlCol="0" anchor="ctr"/>
          <a:lstStyle/>
          <a:p>
            <a:pPr marL="0" indent="0" algn="r">
              <a:buNone/>
            </a:pPr>
            <a:r>
              <a:rPr lang="en-US" sz="1350" b="1" dirty="0">
                <a:solidFill>
                  <a:srgbClr val="7FA65C"/>
                </a:solidFill>
                <a:latin typeface="Calibri" pitchFamily="34" charset="0"/>
                <a:ea typeface="Calibri" pitchFamily="34" charset="-122"/>
                <a:cs typeface="Calibri" pitchFamily="34" charset="-120"/>
              </a:rPr>
              <a:t>40%</a:t>
            </a:r>
            <a:endParaRPr lang="en-US" sz="1350" dirty="0"/>
          </a:p>
        </p:txBody>
      </p:sp>
      <p:sp>
        <p:nvSpPr>
          <p:cNvPr id="30" name="Shape 28"/>
          <p:cNvSpPr/>
          <p:nvPr/>
        </p:nvSpPr>
        <p:spPr>
          <a:xfrm>
            <a:off x="6172200" y="3904488"/>
            <a:ext cx="5120640" cy="438912"/>
          </a:xfrm>
          <a:prstGeom prst="roundRect">
            <a:avLst>
              <a:gd name="adj" fmla="val 12500"/>
            </a:avLst>
          </a:prstGeom>
          <a:solidFill>
            <a:srgbClr val="F4F7F1"/>
          </a:solidFill>
          <a:ln/>
        </p:spPr>
        <p:txBody>
          <a:bodyPr/>
          <a:lstStyle/>
          <a:p>
            <a:endParaRPr lang="en-US"/>
          </a:p>
        </p:txBody>
      </p:sp>
      <p:sp>
        <p:nvSpPr>
          <p:cNvPr id="31" name="Text 29"/>
          <p:cNvSpPr/>
          <p:nvPr/>
        </p:nvSpPr>
        <p:spPr>
          <a:xfrm>
            <a:off x="6355080" y="3904488"/>
            <a:ext cx="3657600" cy="438912"/>
          </a:xfrm>
          <a:prstGeom prst="rect">
            <a:avLst/>
          </a:prstGeom>
          <a:noFill/>
          <a:ln/>
        </p:spPr>
        <p:txBody>
          <a:bodyPr wrap="square" rtlCol="0" anchor="ctr"/>
          <a:lstStyle/>
          <a:p>
            <a:pPr marL="0" indent="0">
              <a:buNone/>
            </a:pPr>
            <a:r>
              <a:rPr lang="en-US" sz="1350" dirty="0">
                <a:solidFill>
                  <a:srgbClr val="1A2E22"/>
                </a:solidFill>
                <a:latin typeface="Calibri" pitchFamily="34" charset="0"/>
                <a:ea typeface="Calibri" pitchFamily="34" charset="-122"/>
                <a:cs typeface="Calibri" pitchFamily="34" charset="-120"/>
              </a:rPr>
              <a:t>Coconut</a:t>
            </a:r>
            <a:endParaRPr lang="en-US" sz="1350" dirty="0"/>
          </a:p>
        </p:txBody>
      </p:sp>
      <p:sp>
        <p:nvSpPr>
          <p:cNvPr id="32" name="Text 30"/>
          <p:cNvSpPr/>
          <p:nvPr/>
        </p:nvSpPr>
        <p:spPr>
          <a:xfrm>
            <a:off x="9784080" y="3904488"/>
            <a:ext cx="1371600" cy="438912"/>
          </a:xfrm>
          <a:prstGeom prst="rect">
            <a:avLst/>
          </a:prstGeom>
          <a:noFill/>
          <a:ln/>
        </p:spPr>
        <p:txBody>
          <a:bodyPr wrap="square" rtlCol="0" anchor="ctr"/>
          <a:lstStyle/>
          <a:p>
            <a:pPr marL="0" indent="0" algn="r">
              <a:buNone/>
            </a:pPr>
            <a:r>
              <a:rPr lang="en-US" sz="1350" b="1" dirty="0">
                <a:solidFill>
                  <a:srgbClr val="7FA65C"/>
                </a:solidFill>
                <a:latin typeface="Calibri" pitchFamily="34" charset="0"/>
                <a:ea typeface="Calibri" pitchFamily="34" charset="-122"/>
                <a:cs typeface="Calibri" pitchFamily="34" charset="-120"/>
              </a:rPr>
              <a:t>35%</a:t>
            </a:r>
            <a:endParaRPr lang="en-US" sz="1350" dirty="0"/>
          </a:p>
        </p:txBody>
      </p:sp>
      <p:sp>
        <p:nvSpPr>
          <p:cNvPr id="33" name="Shape 31"/>
          <p:cNvSpPr/>
          <p:nvPr/>
        </p:nvSpPr>
        <p:spPr>
          <a:xfrm>
            <a:off x="6172200" y="4471416"/>
            <a:ext cx="5120640" cy="438912"/>
          </a:xfrm>
          <a:prstGeom prst="roundRect">
            <a:avLst>
              <a:gd name="adj" fmla="val 12500"/>
            </a:avLst>
          </a:prstGeom>
          <a:solidFill>
            <a:srgbClr val="F4F7F1"/>
          </a:solidFill>
          <a:ln/>
        </p:spPr>
        <p:txBody>
          <a:bodyPr/>
          <a:lstStyle/>
          <a:p>
            <a:endParaRPr lang="en-US"/>
          </a:p>
        </p:txBody>
      </p:sp>
      <p:sp>
        <p:nvSpPr>
          <p:cNvPr id="34" name="Text 32"/>
          <p:cNvSpPr/>
          <p:nvPr/>
        </p:nvSpPr>
        <p:spPr>
          <a:xfrm>
            <a:off x="6355080" y="4471416"/>
            <a:ext cx="3657600" cy="438912"/>
          </a:xfrm>
          <a:prstGeom prst="rect">
            <a:avLst/>
          </a:prstGeom>
          <a:noFill/>
          <a:ln/>
        </p:spPr>
        <p:txBody>
          <a:bodyPr wrap="square" rtlCol="0" anchor="ctr"/>
          <a:lstStyle/>
          <a:p>
            <a:pPr marL="0" indent="0">
              <a:buNone/>
            </a:pPr>
            <a:r>
              <a:rPr lang="en-US" sz="1350" dirty="0">
                <a:solidFill>
                  <a:srgbClr val="1A2E22"/>
                </a:solidFill>
                <a:latin typeface="Calibri" pitchFamily="34" charset="0"/>
                <a:ea typeface="Calibri" pitchFamily="34" charset="-122"/>
                <a:cs typeface="Calibri" pitchFamily="34" charset="-120"/>
              </a:rPr>
              <a:t>Rice</a:t>
            </a:r>
            <a:endParaRPr lang="en-US" sz="1350" dirty="0"/>
          </a:p>
        </p:txBody>
      </p:sp>
      <p:sp>
        <p:nvSpPr>
          <p:cNvPr id="35" name="Text 33"/>
          <p:cNvSpPr/>
          <p:nvPr/>
        </p:nvSpPr>
        <p:spPr>
          <a:xfrm>
            <a:off x="9784080" y="4471416"/>
            <a:ext cx="1371600" cy="438912"/>
          </a:xfrm>
          <a:prstGeom prst="rect">
            <a:avLst/>
          </a:prstGeom>
          <a:noFill/>
          <a:ln/>
        </p:spPr>
        <p:txBody>
          <a:bodyPr wrap="square" rtlCol="0" anchor="ctr"/>
          <a:lstStyle/>
          <a:p>
            <a:pPr marL="0" indent="0" algn="r">
              <a:buNone/>
            </a:pPr>
            <a:r>
              <a:rPr lang="en-US" sz="1350" b="1" dirty="0">
                <a:solidFill>
                  <a:srgbClr val="7FA65C"/>
                </a:solidFill>
                <a:latin typeface="Calibri" pitchFamily="34" charset="0"/>
                <a:ea typeface="Calibri" pitchFamily="34" charset="-122"/>
                <a:cs typeface="Calibri" pitchFamily="34" charset="-120"/>
              </a:rPr>
              <a:t>19%</a:t>
            </a:r>
            <a:endParaRPr lang="en-US" sz="1350" dirty="0"/>
          </a:p>
        </p:txBody>
      </p:sp>
      <p:sp>
        <p:nvSpPr>
          <p:cNvPr id="36" name="Text 34"/>
          <p:cNvSpPr/>
          <p:nvPr/>
        </p:nvSpPr>
        <p:spPr>
          <a:xfrm>
            <a:off x="548640" y="5257800"/>
            <a:ext cx="10789920" cy="502920"/>
          </a:xfrm>
          <a:prstGeom prst="rect">
            <a:avLst/>
          </a:prstGeom>
          <a:noFill/>
          <a:ln/>
        </p:spPr>
        <p:txBody>
          <a:bodyPr wrap="square" rtlCol="0" anchor="ctr"/>
          <a:lstStyle/>
          <a:p>
            <a:pPr marL="0" indent="0">
              <a:buNone/>
            </a:pPr>
            <a:r>
              <a:rPr lang="en-US" sz="1200" i="1" dirty="0">
                <a:solidFill>
                  <a:srgbClr val="5B6B60"/>
                </a:solidFill>
                <a:latin typeface="Calibri" pitchFamily="34" charset="0"/>
                <a:ea typeface="Calibri" pitchFamily="34" charset="-122"/>
                <a:cs typeface="Calibri" pitchFamily="34" charset="-120"/>
              </a:rPr>
              <a:t>Sugarcane and Rice, concentrated in Maharashtra, Karnataka and Tamil Nadu, anchor total production — a signal that later shaped our expansion recommendation.</a:t>
            </a:r>
            <a:endParaRPr lang="en-US" sz="1200" dirty="0"/>
          </a:p>
        </p:txBody>
      </p:sp>
      <p:sp>
        <p:nvSpPr>
          <p:cNvPr id="37" name="Text 35"/>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38" name="Text 36"/>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STEP 3 · STORYTELLING</a:t>
            </a:r>
            <a:endParaRPr lang="en-US" sz="1200" dirty="0"/>
          </a:p>
        </p:txBody>
      </p:sp>
      <p:sp>
        <p:nvSpPr>
          <p:cNvPr id="3" name="Text 1"/>
          <p:cNvSpPr/>
          <p:nvPr/>
        </p:nvSpPr>
        <p:spPr>
          <a:xfrm>
            <a:off x="548640" y="658368"/>
            <a:ext cx="10972800" cy="548640"/>
          </a:xfrm>
          <a:prstGeom prst="rect">
            <a:avLst/>
          </a:prstGeom>
          <a:noFill/>
          <a:ln/>
        </p:spPr>
        <p:txBody>
          <a:bodyPr wrap="square" rtlCol="0" anchor="ctr"/>
          <a:lstStyle/>
          <a:p>
            <a:pPr marL="0" indent="0">
              <a:buNone/>
            </a:pPr>
            <a:r>
              <a:rPr lang="en-US" sz="2800" b="1" dirty="0">
                <a:solidFill>
                  <a:srgbClr val="1A2E22"/>
                </a:solidFill>
                <a:latin typeface="Cambria" pitchFamily="34" charset="0"/>
                <a:ea typeface="Cambria" pitchFamily="34" charset="-122"/>
                <a:cs typeface="Cambria" pitchFamily="34" charset="-120"/>
              </a:rPr>
              <a:t>An Interactive Dashboard, Built in Power BI</a:t>
            </a:r>
            <a:endParaRPr lang="en-US" sz="2800" dirty="0"/>
          </a:p>
        </p:txBody>
      </p:sp>
      <p:sp>
        <p:nvSpPr>
          <p:cNvPr id="4" name="Text 2"/>
          <p:cNvSpPr/>
          <p:nvPr/>
        </p:nvSpPr>
        <p:spPr>
          <a:xfrm>
            <a:off x="548640" y="1170432"/>
            <a:ext cx="10789920" cy="365760"/>
          </a:xfrm>
          <a:prstGeom prst="rect">
            <a:avLst/>
          </a:prstGeom>
          <a:noFill/>
          <a:ln/>
        </p:spPr>
        <p:txBody>
          <a:bodyPr wrap="square" rtlCol="0" anchor="ctr"/>
          <a:lstStyle/>
          <a:p>
            <a:pPr marL="0" indent="0">
              <a:buNone/>
            </a:pPr>
            <a:r>
              <a:rPr lang="en-US" sz="1250" i="1" dirty="0">
                <a:solidFill>
                  <a:srgbClr val="5B6B60"/>
                </a:solidFill>
                <a:latin typeface="Calibri" pitchFamily="34" charset="0"/>
                <a:ea typeface="Calibri" pitchFamily="34" charset="-122"/>
                <a:cs typeface="Calibri" pitchFamily="34" charset="-120"/>
              </a:rPr>
              <a:t>Led by Menna Waleed Abdulrahman — turning cleaned data into a navigable story for non-technical stakeholders.</a:t>
            </a:r>
            <a:endParaRPr lang="en-US" sz="1250" dirty="0"/>
          </a:p>
        </p:txBody>
      </p:sp>
      <p:sp>
        <p:nvSpPr>
          <p:cNvPr id="5" name="Shape 3"/>
          <p:cNvSpPr/>
          <p:nvPr/>
        </p:nvSpPr>
        <p:spPr>
          <a:xfrm>
            <a:off x="548640" y="1691640"/>
            <a:ext cx="7818120" cy="4434840"/>
          </a:xfrm>
          <a:prstGeom prst="roundRect">
            <a:avLst>
              <a:gd name="adj" fmla="val 1649"/>
            </a:avLst>
          </a:prstGeom>
          <a:solidFill>
            <a:srgbClr val="FFFFFF"/>
          </a:solidFill>
          <a:ln w="19050">
            <a:solidFill>
              <a:srgbClr val="DCE4D6"/>
            </a:solidFill>
            <a:prstDash val="solid"/>
          </a:ln>
        </p:spPr>
        <p:txBody>
          <a:bodyPr/>
          <a:lstStyle/>
          <a:p>
            <a:endParaRPr lang="en-US"/>
          </a:p>
        </p:txBody>
      </p:sp>
      <p:pic>
        <p:nvPicPr>
          <p:cNvPr id="6" name="Image 0" descr="/home/claude/proj/assets/dash_overview.png"/>
          <p:cNvPicPr>
            <a:picLocks noChangeAspect="1"/>
          </p:cNvPicPr>
          <p:nvPr/>
        </p:nvPicPr>
        <p:blipFill>
          <a:blip r:embed="rId3"/>
          <a:stretch>
            <a:fillRect/>
          </a:stretch>
        </p:blipFill>
        <p:spPr>
          <a:xfrm>
            <a:off x="658368" y="1801368"/>
            <a:ext cx="7598664" cy="4059936"/>
          </a:xfrm>
          <a:prstGeom prst="rect">
            <a:avLst/>
          </a:prstGeom>
        </p:spPr>
      </p:pic>
      <p:sp>
        <p:nvSpPr>
          <p:cNvPr id="7" name="Text 4"/>
          <p:cNvSpPr/>
          <p:nvPr/>
        </p:nvSpPr>
        <p:spPr>
          <a:xfrm>
            <a:off x="8595360" y="1783080"/>
            <a:ext cx="3063240" cy="4297680"/>
          </a:xfrm>
          <a:prstGeom prst="rect">
            <a:avLst/>
          </a:prstGeom>
          <a:noFill/>
          <a:ln/>
        </p:spPr>
        <p:txBody>
          <a:bodyPr wrap="square" rtlCol="0" anchor="ctr"/>
          <a:lstStyle/>
          <a:p>
            <a:pPr marL="342900" indent="-342900">
              <a:lnSpc>
                <a:spcPct val="120000"/>
              </a:lnSpc>
              <a:spcAft>
                <a:spcPts val="1000"/>
              </a:spcAft>
              <a:buSzPct val="100000"/>
              <a:buChar char="•"/>
            </a:pPr>
            <a:r>
              <a:rPr lang="en-US" sz="1150" dirty="0">
                <a:solidFill>
                  <a:srgbClr val="1A2E22"/>
                </a:solidFill>
                <a:latin typeface="Calibri" pitchFamily="34" charset="0"/>
                <a:ea typeface="Calibri" pitchFamily="34" charset="-122"/>
                <a:cs typeface="Calibri" pitchFamily="34" charset="-120"/>
              </a:rPr>
              <a:t>One central Overview page with global filters for State, Year, Season and Crop</a:t>
            </a:r>
            <a:endParaRPr lang="en-US" sz="1150" dirty="0"/>
          </a:p>
          <a:p>
            <a:pPr marL="342900" indent="-342900">
              <a:lnSpc>
                <a:spcPct val="120000"/>
              </a:lnSpc>
              <a:spcAft>
                <a:spcPts val="1000"/>
              </a:spcAft>
              <a:buSzPct val="100000"/>
              <a:buChar char="•"/>
            </a:pPr>
            <a:r>
              <a:rPr lang="en-US" sz="1150" dirty="0">
                <a:solidFill>
                  <a:srgbClr val="1A2E22"/>
                </a:solidFill>
                <a:latin typeface="Calibri" pitchFamily="34" charset="0"/>
                <a:ea typeface="Calibri" pitchFamily="34" charset="-122"/>
                <a:cs typeface="Calibri" pitchFamily="34" charset="-120"/>
              </a:rPr>
              <a:t>KPI cards surface scale instantly: production, yield, states, and crops covered</a:t>
            </a:r>
            <a:endParaRPr lang="en-US" sz="1150" dirty="0"/>
          </a:p>
          <a:p>
            <a:pPr marL="342900" indent="-342900">
              <a:lnSpc>
                <a:spcPct val="120000"/>
              </a:lnSpc>
              <a:spcAft>
                <a:spcPts val="1000"/>
              </a:spcAft>
              <a:buSzPct val="100000"/>
              <a:buChar char="•"/>
            </a:pPr>
            <a:r>
              <a:rPr lang="en-US" sz="1150" dirty="0">
                <a:solidFill>
                  <a:srgbClr val="1A2E22"/>
                </a:solidFill>
                <a:latin typeface="Calibri" pitchFamily="34" charset="0"/>
                <a:ea typeface="Calibri" pitchFamily="34" charset="-122"/>
                <a:cs typeface="Calibri" pitchFamily="34" charset="-120"/>
              </a:rPr>
              <a:t>A geo map shows exactly where production concentrates across India</a:t>
            </a:r>
            <a:endParaRPr lang="en-US" sz="1150" dirty="0"/>
          </a:p>
          <a:p>
            <a:pPr marL="342900" indent="-342900">
              <a:lnSpc>
                <a:spcPct val="120000"/>
              </a:lnSpc>
              <a:spcAft>
                <a:spcPts val="1000"/>
              </a:spcAft>
              <a:buSzPct val="100000"/>
              <a:buChar char="•"/>
            </a:pPr>
            <a:r>
              <a:rPr lang="en-US" sz="1150" dirty="0">
                <a:solidFill>
                  <a:srgbClr val="1A2E22"/>
                </a:solidFill>
                <a:latin typeface="Calibri" pitchFamily="34" charset="0"/>
                <a:ea typeface="Calibri" pitchFamily="34" charset="-122"/>
                <a:cs typeface="Calibri" pitchFamily="34" charset="-120"/>
              </a:rPr>
              <a:t>A time trend line reveals how total production has evolved since the late 1990s</a:t>
            </a:r>
            <a:endParaRPr lang="en-US" sz="1150" dirty="0"/>
          </a:p>
        </p:txBody>
      </p:sp>
      <p:sp>
        <p:nvSpPr>
          <p:cNvPr id="8" name="Text 5"/>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9" name="Text 6"/>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STEP 3 · STORYTELLING</a:t>
            </a:r>
            <a:endParaRPr lang="en-US" sz="1200" dirty="0"/>
          </a:p>
        </p:txBody>
      </p:sp>
      <p:sp>
        <p:nvSpPr>
          <p:cNvPr id="3" name="Text 1"/>
          <p:cNvSpPr/>
          <p:nvPr/>
        </p:nvSpPr>
        <p:spPr>
          <a:xfrm>
            <a:off x="548640" y="658368"/>
            <a:ext cx="10972800" cy="548640"/>
          </a:xfrm>
          <a:prstGeom prst="rect">
            <a:avLst/>
          </a:prstGeom>
          <a:noFill/>
          <a:ln/>
        </p:spPr>
        <p:txBody>
          <a:bodyPr wrap="square" rtlCol="0" anchor="ctr"/>
          <a:lstStyle/>
          <a:p>
            <a:pPr marL="0" indent="0">
              <a:buNone/>
            </a:pPr>
            <a:r>
              <a:rPr lang="en-US" sz="2800" b="1" dirty="0">
                <a:solidFill>
                  <a:srgbClr val="1A2E22"/>
                </a:solidFill>
                <a:latin typeface="Cambria" pitchFamily="34" charset="0"/>
                <a:ea typeface="Cambria" pitchFamily="34" charset="-122"/>
                <a:cs typeface="Cambria" pitchFamily="34" charset="-120"/>
              </a:rPr>
              <a:t>Climate &amp; Crop Performance, Side by Side</a:t>
            </a:r>
            <a:endParaRPr lang="en-US" sz="2800" dirty="0"/>
          </a:p>
        </p:txBody>
      </p:sp>
      <p:sp>
        <p:nvSpPr>
          <p:cNvPr id="4" name="Shape 2"/>
          <p:cNvSpPr/>
          <p:nvPr/>
        </p:nvSpPr>
        <p:spPr>
          <a:xfrm>
            <a:off x="548640" y="1371600"/>
            <a:ext cx="5440680" cy="3977640"/>
          </a:xfrm>
          <a:prstGeom prst="roundRect">
            <a:avLst>
              <a:gd name="adj" fmla="val 1839"/>
            </a:avLst>
          </a:prstGeom>
          <a:solidFill>
            <a:srgbClr val="FFFFFF"/>
          </a:solidFill>
          <a:ln w="19050">
            <a:solidFill>
              <a:srgbClr val="DCE4D6"/>
            </a:solidFill>
            <a:prstDash val="solid"/>
          </a:ln>
        </p:spPr>
        <p:txBody>
          <a:bodyPr/>
          <a:lstStyle/>
          <a:p>
            <a:endParaRPr lang="en-US"/>
          </a:p>
        </p:txBody>
      </p:sp>
      <p:pic>
        <p:nvPicPr>
          <p:cNvPr id="5" name="Image 0" descr="/home/claude/proj/assets/dash_environmental.png"/>
          <p:cNvPicPr>
            <a:picLocks noChangeAspect="1"/>
          </p:cNvPicPr>
          <p:nvPr/>
        </p:nvPicPr>
        <p:blipFill>
          <a:blip r:embed="rId3"/>
          <a:stretch>
            <a:fillRect/>
          </a:stretch>
        </p:blipFill>
        <p:spPr>
          <a:xfrm>
            <a:off x="640080" y="1463040"/>
            <a:ext cx="5257800" cy="3017520"/>
          </a:xfrm>
          <a:prstGeom prst="rect">
            <a:avLst/>
          </a:prstGeom>
        </p:spPr>
      </p:pic>
      <p:sp>
        <p:nvSpPr>
          <p:cNvPr id="6" name="Text 3"/>
          <p:cNvSpPr/>
          <p:nvPr/>
        </p:nvSpPr>
        <p:spPr>
          <a:xfrm>
            <a:off x="640080" y="4572000"/>
            <a:ext cx="5257800" cy="685800"/>
          </a:xfrm>
          <a:prstGeom prst="rect">
            <a:avLst/>
          </a:prstGeom>
          <a:noFill/>
          <a:ln/>
        </p:spPr>
        <p:txBody>
          <a:bodyPr wrap="square" rtlCol="0" anchor="ctr"/>
          <a:lstStyle/>
          <a:p>
            <a:pPr marL="0" indent="0">
              <a:buNone/>
            </a:pPr>
            <a:r>
              <a:rPr lang="en-US" sz="1150" i="1" dirty="0">
                <a:solidFill>
                  <a:srgbClr val="5B6B60"/>
                </a:solidFill>
                <a:latin typeface="Calibri" pitchFamily="34" charset="0"/>
                <a:ea typeface="Calibri" pitchFamily="34" charset="-122"/>
                <a:cs typeface="Calibri" pitchFamily="34" charset="-120"/>
              </a:rPr>
              <a:t>Environmental Impact — rainfall, temperature and fertilizer trends vs. yield</a:t>
            </a:r>
            <a:endParaRPr lang="en-US" sz="1150" dirty="0"/>
          </a:p>
        </p:txBody>
      </p:sp>
      <p:sp>
        <p:nvSpPr>
          <p:cNvPr id="7" name="Shape 4"/>
          <p:cNvSpPr/>
          <p:nvPr/>
        </p:nvSpPr>
        <p:spPr>
          <a:xfrm>
            <a:off x="6199632" y="1371600"/>
            <a:ext cx="5440680" cy="3977640"/>
          </a:xfrm>
          <a:prstGeom prst="roundRect">
            <a:avLst>
              <a:gd name="adj" fmla="val 1839"/>
            </a:avLst>
          </a:prstGeom>
          <a:solidFill>
            <a:srgbClr val="FFFFFF"/>
          </a:solidFill>
          <a:ln w="19050">
            <a:solidFill>
              <a:srgbClr val="DCE4D6"/>
            </a:solidFill>
            <a:prstDash val="solid"/>
          </a:ln>
        </p:spPr>
        <p:txBody>
          <a:bodyPr/>
          <a:lstStyle/>
          <a:p>
            <a:endParaRPr lang="en-US"/>
          </a:p>
        </p:txBody>
      </p:sp>
      <p:pic>
        <p:nvPicPr>
          <p:cNvPr id="8" name="Image 1" descr="/home/claude/proj/assets/dash_crops.png"/>
          <p:cNvPicPr>
            <a:picLocks noChangeAspect="1"/>
          </p:cNvPicPr>
          <p:nvPr/>
        </p:nvPicPr>
        <p:blipFill>
          <a:blip r:embed="rId4"/>
          <a:stretch>
            <a:fillRect/>
          </a:stretch>
        </p:blipFill>
        <p:spPr>
          <a:xfrm>
            <a:off x="6291072" y="1463040"/>
            <a:ext cx="5257800" cy="3017520"/>
          </a:xfrm>
          <a:prstGeom prst="rect">
            <a:avLst/>
          </a:prstGeom>
        </p:spPr>
      </p:pic>
      <p:sp>
        <p:nvSpPr>
          <p:cNvPr id="9" name="Text 5"/>
          <p:cNvSpPr/>
          <p:nvPr/>
        </p:nvSpPr>
        <p:spPr>
          <a:xfrm>
            <a:off x="6291072" y="4572000"/>
            <a:ext cx="5257800" cy="685800"/>
          </a:xfrm>
          <a:prstGeom prst="rect">
            <a:avLst/>
          </a:prstGeom>
          <a:noFill/>
          <a:ln/>
        </p:spPr>
        <p:txBody>
          <a:bodyPr wrap="square" rtlCol="0" anchor="ctr"/>
          <a:lstStyle/>
          <a:p>
            <a:pPr marL="0" indent="0">
              <a:buNone/>
            </a:pPr>
            <a:r>
              <a:rPr lang="en-US" sz="1150" i="1" dirty="0">
                <a:solidFill>
                  <a:srgbClr val="5B6B60"/>
                </a:solidFill>
                <a:latin typeface="Calibri" pitchFamily="34" charset="0"/>
                <a:ea typeface="Calibri" pitchFamily="34" charset="-122"/>
                <a:cs typeface="Calibri" pitchFamily="34" charset="-120"/>
              </a:rPr>
              <a:t>Crop Performance — production share by season and top crops by state</a:t>
            </a:r>
            <a:endParaRPr lang="en-US" sz="1150" dirty="0"/>
          </a:p>
        </p:txBody>
      </p:sp>
      <p:sp>
        <p:nvSpPr>
          <p:cNvPr id="10" name="Text 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11" name="Text 7"/>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STEP 3 · STORYTELLING</a:t>
            </a:r>
            <a:endParaRPr lang="en-US" sz="1200" dirty="0"/>
          </a:p>
        </p:txBody>
      </p:sp>
      <p:sp>
        <p:nvSpPr>
          <p:cNvPr id="3" name="Text 1"/>
          <p:cNvSpPr/>
          <p:nvPr/>
        </p:nvSpPr>
        <p:spPr>
          <a:xfrm>
            <a:off x="548640" y="658368"/>
            <a:ext cx="10972800" cy="548640"/>
          </a:xfrm>
          <a:prstGeom prst="rect">
            <a:avLst/>
          </a:prstGeom>
          <a:noFill/>
          <a:ln/>
        </p:spPr>
        <p:txBody>
          <a:bodyPr wrap="square" rtlCol="0" anchor="ctr"/>
          <a:lstStyle/>
          <a:p>
            <a:pPr marL="0" indent="0">
              <a:buNone/>
            </a:pPr>
            <a:r>
              <a:rPr lang="en-US" sz="2800" b="1" dirty="0">
                <a:solidFill>
                  <a:srgbClr val="1A2E22"/>
                </a:solidFill>
                <a:latin typeface="Cambria" pitchFamily="34" charset="0"/>
                <a:ea typeface="Cambria" pitchFamily="34" charset="-122"/>
                <a:cs typeface="Cambria" pitchFamily="34" charset="-120"/>
              </a:rPr>
              <a:t>The Dashboard's Own Insights Page</a:t>
            </a:r>
            <a:endParaRPr lang="en-US" sz="2800" dirty="0"/>
          </a:p>
        </p:txBody>
      </p:sp>
      <p:sp>
        <p:nvSpPr>
          <p:cNvPr id="4" name="Shape 2"/>
          <p:cNvSpPr/>
          <p:nvPr/>
        </p:nvSpPr>
        <p:spPr>
          <a:xfrm>
            <a:off x="548640" y="1325880"/>
            <a:ext cx="5989320" cy="4846320"/>
          </a:xfrm>
          <a:prstGeom prst="roundRect">
            <a:avLst>
              <a:gd name="adj" fmla="val 1509"/>
            </a:avLst>
          </a:prstGeom>
          <a:solidFill>
            <a:srgbClr val="FFFFFF"/>
          </a:solidFill>
          <a:ln w="19050">
            <a:solidFill>
              <a:srgbClr val="DCE4D6"/>
            </a:solidFill>
            <a:prstDash val="solid"/>
          </a:ln>
        </p:spPr>
        <p:txBody>
          <a:bodyPr/>
          <a:lstStyle/>
          <a:p>
            <a:endParaRPr lang="en-US"/>
          </a:p>
        </p:txBody>
      </p:sp>
      <p:pic>
        <p:nvPicPr>
          <p:cNvPr id="5" name="Image 0" descr="/home/claude/proj/assets/dash_recommendations.png"/>
          <p:cNvPicPr>
            <a:picLocks noChangeAspect="1"/>
          </p:cNvPicPr>
          <p:nvPr/>
        </p:nvPicPr>
        <p:blipFill>
          <a:blip r:embed="rId3"/>
          <a:stretch>
            <a:fillRect/>
          </a:stretch>
        </p:blipFill>
        <p:spPr>
          <a:xfrm>
            <a:off x="640080" y="1417320"/>
            <a:ext cx="5806440" cy="3383280"/>
          </a:xfrm>
          <a:prstGeom prst="rect">
            <a:avLst/>
          </a:prstGeom>
        </p:spPr>
      </p:pic>
      <p:sp>
        <p:nvSpPr>
          <p:cNvPr id="6" name="Text 3"/>
          <p:cNvSpPr/>
          <p:nvPr/>
        </p:nvSpPr>
        <p:spPr>
          <a:xfrm>
            <a:off x="6766560" y="1417320"/>
            <a:ext cx="4846320" cy="365760"/>
          </a:xfrm>
          <a:prstGeom prst="rect">
            <a:avLst/>
          </a:prstGeom>
          <a:noFill/>
          <a:ln/>
        </p:spPr>
        <p:txBody>
          <a:bodyPr wrap="square" rtlCol="0" anchor="ctr"/>
          <a:lstStyle/>
          <a:p>
            <a:pPr marL="0" indent="0">
              <a:buNone/>
            </a:pPr>
            <a:r>
              <a:rPr lang="en-US" sz="1400" b="1" dirty="0">
                <a:solidFill>
                  <a:srgbClr val="1A2E22"/>
                </a:solidFill>
                <a:latin typeface="Calibri" pitchFamily="34" charset="0"/>
                <a:ea typeface="Calibri" pitchFamily="34" charset="-122"/>
                <a:cs typeface="Calibri" pitchFamily="34" charset="-120"/>
              </a:rPr>
              <a:t>Three lenses on the same data:</a:t>
            </a:r>
            <a:endParaRPr lang="en-US" sz="1400" dirty="0"/>
          </a:p>
        </p:txBody>
      </p:sp>
      <p:sp>
        <p:nvSpPr>
          <p:cNvPr id="7" name="Shape 4"/>
          <p:cNvSpPr/>
          <p:nvPr/>
        </p:nvSpPr>
        <p:spPr>
          <a:xfrm>
            <a:off x="6766560" y="1920240"/>
            <a:ext cx="4846320" cy="1234440"/>
          </a:xfrm>
          <a:prstGeom prst="roundRect">
            <a:avLst>
              <a:gd name="adj" fmla="val 5926"/>
            </a:avLst>
          </a:prstGeom>
          <a:solidFill>
            <a:srgbClr val="F4F7F1"/>
          </a:solidFill>
          <a:ln/>
        </p:spPr>
        <p:txBody>
          <a:bodyPr/>
          <a:lstStyle/>
          <a:p>
            <a:endParaRPr lang="en-US"/>
          </a:p>
        </p:txBody>
      </p:sp>
      <p:sp>
        <p:nvSpPr>
          <p:cNvPr id="8" name="Text 5"/>
          <p:cNvSpPr/>
          <p:nvPr/>
        </p:nvSpPr>
        <p:spPr>
          <a:xfrm>
            <a:off x="6949440" y="2029968"/>
            <a:ext cx="4480560" cy="320040"/>
          </a:xfrm>
          <a:prstGeom prst="rect">
            <a:avLst/>
          </a:prstGeom>
          <a:noFill/>
          <a:ln/>
        </p:spPr>
        <p:txBody>
          <a:bodyPr wrap="square" rtlCol="0" anchor="ctr"/>
          <a:lstStyle/>
          <a:p>
            <a:pPr marL="0" indent="0">
              <a:buNone/>
            </a:pPr>
            <a:r>
              <a:rPr lang="en-US" sz="1300" b="1" dirty="0">
                <a:solidFill>
                  <a:srgbClr val="1F3D2C"/>
                </a:solidFill>
                <a:latin typeface="Calibri" pitchFamily="34" charset="0"/>
                <a:ea typeface="Calibri" pitchFamily="34" charset="-122"/>
                <a:cs typeface="Calibri" pitchFamily="34" charset="-120"/>
              </a:rPr>
              <a:t>Crop Strategy</a:t>
            </a:r>
            <a:endParaRPr lang="en-US" sz="1300" dirty="0"/>
          </a:p>
        </p:txBody>
      </p:sp>
      <p:sp>
        <p:nvSpPr>
          <p:cNvPr id="9" name="Text 6"/>
          <p:cNvSpPr/>
          <p:nvPr/>
        </p:nvSpPr>
        <p:spPr>
          <a:xfrm>
            <a:off x="6949440" y="2377440"/>
            <a:ext cx="4480560" cy="713232"/>
          </a:xfrm>
          <a:prstGeom prst="rect">
            <a:avLst/>
          </a:prstGeom>
          <a:noFill/>
          <a:ln/>
        </p:spPr>
        <p:txBody>
          <a:bodyPr wrap="square" rtlCol="0" anchor="ctr"/>
          <a:lstStyle/>
          <a:p>
            <a:pPr marL="0" indent="0">
              <a:lnSpc>
                <a:spcPct val="120000"/>
              </a:lnSpc>
              <a:buNone/>
            </a:pPr>
            <a:r>
              <a:rPr lang="en-US" sz="1150" dirty="0">
                <a:solidFill>
                  <a:srgbClr val="5B6B60"/>
                </a:solidFill>
                <a:latin typeface="Calibri" pitchFamily="34" charset="0"/>
                <a:ea typeface="Calibri" pitchFamily="34" charset="-122"/>
                <a:cs typeface="Calibri" pitchFamily="34" charset="-120"/>
              </a:rPr>
              <a:t>Sugarcane &amp; Rice lead total production, concentrated in Maharashtra and neighboring states.</a:t>
            </a:r>
            <a:endParaRPr lang="en-US" sz="1150" dirty="0"/>
          </a:p>
        </p:txBody>
      </p:sp>
      <p:sp>
        <p:nvSpPr>
          <p:cNvPr id="10" name="Shape 7"/>
          <p:cNvSpPr/>
          <p:nvPr/>
        </p:nvSpPr>
        <p:spPr>
          <a:xfrm>
            <a:off x="6766560" y="3337560"/>
            <a:ext cx="4846320" cy="1234440"/>
          </a:xfrm>
          <a:prstGeom prst="roundRect">
            <a:avLst>
              <a:gd name="adj" fmla="val 5926"/>
            </a:avLst>
          </a:prstGeom>
          <a:solidFill>
            <a:srgbClr val="F4F7F1"/>
          </a:solidFill>
          <a:ln/>
        </p:spPr>
        <p:txBody>
          <a:bodyPr/>
          <a:lstStyle/>
          <a:p>
            <a:endParaRPr lang="en-US"/>
          </a:p>
        </p:txBody>
      </p:sp>
      <p:sp>
        <p:nvSpPr>
          <p:cNvPr id="11" name="Text 8"/>
          <p:cNvSpPr/>
          <p:nvPr/>
        </p:nvSpPr>
        <p:spPr>
          <a:xfrm>
            <a:off x="6949440" y="3447288"/>
            <a:ext cx="4480560" cy="320040"/>
          </a:xfrm>
          <a:prstGeom prst="rect">
            <a:avLst/>
          </a:prstGeom>
          <a:noFill/>
          <a:ln/>
        </p:spPr>
        <p:txBody>
          <a:bodyPr wrap="square" rtlCol="0" anchor="ctr"/>
          <a:lstStyle/>
          <a:p>
            <a:pPr marL="0" indent="0">
              <a:buNone/>
            </a:pPr>
            <a:r>
              <a:rPr lang="en-US" sz="1300" b="1" dirty="0">
                <a:solidFill>
                  <a:srgbClr val="1F3D2C"/>
                </a:solidFill>
                <a:latin typeface="Calibri" pitchFamily="34" charset="0"/>
                <a:ea typeface="Calibri" pitchFamily="34" charset="-122"/>
                <a:cs typeface="Calibri" pitchFamily="34" charset="-120"/>
              </a:rPr>
              <a:t>Climate Impact</a:t>
            </a:r>
            <a:endParaRPr lang="en-US" sz="1300" dirty="0"/>
          </a:p>
        </p:txBody>
      </p:sp>
      <p:sp>
        <p:nvSpPr>
          <p:cNvPr id="12" name="Text 9"/>
          <p:cNvSpPr/>
          <p:nvPr/>
        </p:nvSpPr>
        <p:spPr>
          <a:xfrm>
            <a:off x="6949440" y="3794760"/>
            <a:ext cx="4480560" cy="713232"/>
          </a:xfrm>
          <a:prstGeom prst="rect">
            <a:avLst/>
          </a:prstGeom>
          <a:noFill/>
          <a:ln/>
        </p:spPr>
        <p:txBody>
          <a:bodyPr wrap="square" rtlCol="0" anchor="ctr"/>
          <a:lstStyle/>
          <a:p>
            <a:pPr marL="0" indent="0">
              <a:lnSpc>
                <a:spcPct val="120000"/>
              </a:lnSpc>
              <a:buNone/>
            </a:pPr>
            <a:r>
              <a:rPr lang="en-US" sz="1150" dirty="0">
                <a:solidFill>
                  <a:srgbClr val="5B6B60"/>
                </a:solidFill>
                <a:latin typeface="Calibri" pitchFamily="34" charset="0"/>
                <a:ea typeface="Calibri" pitchFamily="34" charset="-122"/>
                <a:cs typeface="Calibri" pitchFamily="34" charset="-120"/>
              </a:rPr>
              <a:t>A ~2,000–2,500mm rainfall ceiling and a 20–25°C sweet spot bound optimal yield.</a:t>
            </a:r>
            <a:endParaRPr lang="en-US" sz="1150" dirty="0"/>
          </a:p>
        </p:txBody>
      </p:sp>
      <p:sp>
        <p:nvSpPr>
          <p:cNvPr id="13" name="Shape 10"/>
          <p:cNvSpPr/>
          <p:nvPr/>
        </p:nvSpPr>
        <p:spPr>
          <a:xfrm>
            <a:off x="6766560" y="4754880"/>
            <a:ext cx="4846320" cy="1234440"/>
          </a:xfrm>
          <a:prstGeom prst="roundRect">
            <a:avLst>
              <a:gd name="adj" fmla="val 5926"/>
            </a:avLst>
          </a:prstGeom>
          <a:solidFill>
            <a:srgbClr val="F4F7F1"/>
          </a:solidFill>
          <a:ln/>
        </p:spPr>
        <p:txBody>
          <a:bodyPr/>
          <a:lstStyle/>
          <a:p>
            <a:endParaRPr lang="en-US"/>
          </a:p>
        </p:txBody>
      </p:sp>
      <p:sp>
        <p:nvSpPr>
          <p:cNvPr id="14" name="Text 11"/>
          <p:cNvSpPr/>
          <p:nvPr/>
        </p:nvSpPr>
        <p:spPr>
          <a:xfrm>
            <a:off x="6949440" y="4864608"/>
            <a:ext cx="4480560" cy="320040"/>
          </a:xfrm>
          <a:prstGeom prst="rect">
            <a:avLst/>
          </a:prstGeom>
          <a:noFill/>
          <a:ln/>
        </p:spPr>
        <p:txBody>
          <a:bodyPr wrap="square" rtlCol="0" anchor="ctr"/>
          <a:lstStyle/>
          <a:p>
            <a:pPr marL="0" indent="0">
              <a:buNone/>
            </a:pPr>
            <a:r>
              <a:rPr lang="en-US" sz="1300" b="1" dirty="0">
                <a:solidFill>
                  <a:srgbClr val="1F3D2C"/>
                </a:solidFill>
                <a:latin typeface="Calibri" pitchFamily="34" charset="0"/>
                <a:ea typeface="Calibri" pitchFamily="34" charset="-122"/>
                <a:cs typeface="Calibri" pitchFamily="34" charset="-120"/>
              </a:rPr>
              <a:t>Resource Efficiency</a:t>
            </a:r>
            <a:endParaRPr lang="en-US" sz="1300" dirty="0"/>
          </a:p>
        </p:txBody>
      </p:sp>
      <p:sp>
        <p:nvSpPr>
          <p:cNvPr id="15" name="Text 12"/>
          <p:cNvSpPr/>
          <p:nvPr/>
        </p:nvSpPr>
        <p:spPr>
          <a:xfrm>
            <a:off x="6949440" y="5212080"/>
            <a:ext cx="4480560" cy="713232"/>
          </a:xfrm>
          <a:prstGeom prst="rect">
            <a:avLst/>
          </a:prstGeom>
          <a:noFill/>
          <a:ln/>
        </p:spPr>
        <p:txBody>
          <a:bodyPr wrap="square" rtlCol="0" anchor="ctr"/>
          <a:lstStyle/>
          <a:p>
            <a:pPr marL="0" indent="0">
              <a:lnSpc>
                <a:spcPct val="120000"/>
              </a:lnSpc>
              <a:buNone/>
            </a:pPr>
            <a:r>
              <a:rPr lang="en-US" sz="1150" dirty="0">
                <a:solidFill>
                  <a:srgbClr val="5B6B60"/>
                </a:solidFill>
                <a:latin typeface="Calibri" pitchFamily="34" charset="0"/>
                <a:ea typeface="Calibri" pitchFamily="34" charset="-122"/>
                <a:cs typeface="Calibri" pitchFamily="34" charset="-120"/>
              </a:rPr>
              <a:t>Fertilizer use has surged for two decades without a matching rise in yield.</a:t>
            </a:r>
            <a:endParaRPr lang="en-US" sz="1150" dirty="0"/>
          </a:p>
        </p:txBody>
      </p:sp>
      <p:sp>
        <p:nvSpPr>
          <p:cNvPr id="16" name="Text 13"/>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17" name="Text 14"/>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STEP 4 · PREDICTION</a:t>
            </a:r>
            <a:endParaRPr lang="en-US" sz="1200" dirty="0"/>
          </a:p>
        </p:txBody>
      </p:sp>
      <p:sp>
        <p:nvSpPr>
          <p:cNvPr id="3" name="Text 1"/>
          <p:cNvSpPr/>
          <p:nvPr/>
        </p:nvSpPr>
        <p:spPr>
          <a:xfrm>
            <a:off x="548640" y="658368"/>
            <a:ext cx="10972800" cy="548640"/>
          </a:xfrm>
          <a:prstGeom prst="rect">
            <a:avLst/>
          </a:prstGeom>
          <a:noFill/>
          <a:ln/>
        </p:spPr>
        <p:txBody>
          <a:bodyPr wrap="square" rtlCol="0" anchor="ctr"/>
          <a:lstStyle/>
          <a:p>
            <a:pPr marL="0" indent="0">
              <a:buNone/>
            </a:pPr>
            <a:r>
              <a:rPr lang="en-US" sz="2800" b="1" dirty="0">
                <a:solidFill>
                  <a:srgbClr val="1A2E22"/>
                </a:solidFill>
                <a:latin typeface="Cambria" pitchFamily="34" charset="0"/>
                <a:ea typeface="Cambria" pitchFamily="34" charset="-122"/>
                <a:cs typeface="Cambria" pitchFamily="34" charset="-120"/>
              </a:rPr>
              <a:t>Predicting Yield</a:t>
            </a:r>
            <a:endParaRPr lang="en-US" sz="2800" dirty="0"/>
          </a:p>
        </p:txBody>
      </p:sp>
      <p:sp>
        <p:nvSpPr>
          <p:cNvPr id="4" name="Text 2"/>
          <p:cNvSpPr/>
          <p:nvPr/>
        </p:nvSpPr>
        <p:spPr>
          <a:xfrm>
            <a:off x="548640" y="1170432"/>
            <a:ext cx="10789920" cy="365760"/>
          </a:xfrm>
          <a:prstGeom prst="rect">
            <a:avLst/>
          </a:prstGeom>
          <a:noFill/>
          <a:ln/>
        </p:spPr>
        <p:txBody>
          <a:bodyPr wrap="square" rtlCol="0" anchor="ctr"/>
          <a:lstStyle/>
          <a:p>
            <a:pPr marL="0" indent="0">
              <a:buNone/>
            </a:pPr>
            <a:r>
              <a:rPr lang="en-US" sz="1250" i="1" dirty="0">
                <a:solidFill>
                  <a:srgbClr val="5B6B60"/>
                </a:solidFill>
                <a:latin typeface="Calibri" pitchFamily="34" charset="0"/>
                <a:ea typeface="Calibri" pitchFamily="34" charset="-122"/>
                <a:cs typeface="Calibri" pitchFamily="34" charset="-120"/>
              </a:rPr>
              <a:t>Led by Fatma Hasan Abdulrazek — from trained notebook to a deployable model.</a:t>
            </a:r>
            <a:endParaRPr lang="en-US" sz="1250" dirty="0"/>
          </a:p>
        </p:txBody>
      </p:sp>
      <p:sp>
        <p:nvSpPr>
          <p:cNvPr id="5" name="Shape 3"/>
          <p:cNvSpPr/>
          <p:nvPr/>
        </p:nvSpPr>
        <p:spPr>
          <a:xfrm>
            <a:off x="548640" y="1691640"/>
            <a:ext cx="6126480" cy="4434840"/>
          </a:xfrm>
          <a:prstGeom prst="roundRect">
            <a:avLst>
              <a:gd name="adj" fmla="val 2062"/>
            </a:avLst>
          </a:prstGeom>
          <a:solidFill>
            <a:srgbClr val="F4F7F1"/>
          </a:solidFill>
          <a:ln/>
        </p:spPr>
        <p:txBody>
          <a:bodyPr/>
          <a:lstStyle/>
          <a:p>
            <a:endParaRPr lang="en-US"/>
          </a:p>
        </p:txBody>
      </p:sp>
      <p:sp>
        <p:nvSpPr>
          <p:cNvPr id="6" name="Shape 4"/>
          <p:cNvSpPr/>
          <p:nvPr/>
        </p:nvSpPr>
        <p:spPr>
          <a:xfrm>
            <a:off x="822960" y="1965960"/>
            <a:ext cx="548640" cy="548640"/>
          </a:xfrm>
          <a:prstGeom prst="ellipse">
            <a:avLst/>
          </a:prstGeom>
          <a:solidFill>
            <a:srgbClr val="1F3D2C"/>
          </a:solidFill>
          <a:ln/>
        </p:spPr>
        <p:txBody>
          <a:bodyPr/>
          <a:lstStyle/>
          <a:p>
            <a:endParaRPr lang="en-US"/>
          </a:p>
        </p:txBody>
      </p:sp>
      <p:pic>
        <p:nvPicPr>
          <p:cNvPr id="7" name="Image 0" descr="/home/claude/proj/icons/brain_white.png"/>
          <p:cNvPicPr>
            <a:picLocks noChangeAspect="1"/>
          </p:cNvPicPr>
          <p:nvPr/>
        </p:nvPicPr>
        <p:blipFill>
          <a:blip r:embed="rId3"/>
          <a:stretch>
            <a:fillRect/>
          </a:stretch>
        </p:blipFill>
        <p:spPr>
          <a:xfrm>
            <a:off x="888797" y="2031797"/>
            <a:ext cx="416966" cy="416966"/>
          </a:xfrm>
          <a:prstGeom prst="rect">
            <a:avLst/>
          </a:prstGeom>
        </p:spPr>
      </p:pic>
      <p:sp>
        <p:nvSpPr>
          <p:cNvPr id="8" name="Text 5"/>
          <p:cNvSpPr/>
          <p:nvPr/>
        </p:nvSpPr>
        <p:spPr>
          <a:xfrm>
            <a:off x="1508760" y="1947672"/>
            <a:ext cx="4892040" cy="365760"/>
          </a:xfrm>
          <a:prstGeom prst="rect">
            <a:avLst/>
          </a:prstGeom>
          <a:noFill/>
          <a:ln/>
        </p:spPr>
        <p:txBody>
          <a:bodyPr wrap="square" rtlCol="0" anchor="ctr"/>
          <a:lstStyle/>
          <a:p>
            <a:pPr marL="0" indent="0">
              <a:buNone/>
            </a:pPr>
            <a:r>
              <a:rPr lang="en-US" sz="1350" b="1" dirty="0">
                <a:solidFill>
                  <a:srgbClr val="1A2E22"/>
                </a:solidFill>
                <a:latin typeface="Calibri" pitchFamily="34" charset="0"/>
                <a:ea typeface="Calibri" pitchFamily="34" charset="-122"/>
                <a:cs typeface="Calibri" pitchFamily="34" charset="-120"/>
              </a:rPr>
              <a:t>Random Forest Regressor/Classifier</a:t>
            </a:r>
            <a:endParaRPr lang="en-US" sz="1350" dirty="0"/>
          </a:p>
        </p:txBody>
      </p:sp>
      <p:sp>
        <p:nvSpPr>
          <p:cNvPr id="9" name="Text 6"/>
          <p:cNvSpPr/>
          <p:nvPr/>
        </p:nvSpPr>
        <p:spPr>
          <a:xfrm>
            <a:off x="1508760" y="2295144"/>
            <a:ext cx="4892040" cy="868680"/>
          </a:xfrm>
          <a:prstGeom prst="rect">
            <a:avLst/>
          </a:prstGeom>
          <a:noFill/>
          <a:ln/>
        </p:spPr>
        <p:txBody>
          <a:bodyPr wrap="square" rtlCol="0" anchor="ctr"/>
          <a:lstStyle/>
          <a:p>
            <a:pPr marL="0" indent="0">
              <a:lnSpc>
                <a:spcPct val="120000"/>
              </a:lnSpc>
              <a:buNone/>
            </a:pPr>
            <a:r>
              <a:rPr lang="en-US" sz="1150" dirty="0">
                <a:solidFill>
                  <a:srgbClr val="5B6B60"/>
                </a:solidFill>
                <a:latin typeface="Calibri" pitchFamily="34" charset="0"/>
                <a:ea typeface="Calibri" pitchFamily="34" charset="-122"/>
                <a:cs typeface="Calibri" pitchFamily="34" charset="-120"/>
              </a:rPr>
              <a:t>Trained on soil (N-P-K-pH), climate, crop, season and farm-input features.</a:t>
            </a:r>
            <a:endParaRPr lang="en-US" sz="1150" dirty="0"/>
          </a:p>
        </p:txBody>
      </p:sp>
      <p:sp>
        <p:nvSpPr>
          <p:cNvPr id="10" name="Shape 7"/>
          <p:cNvSpPr/>
          <p:nvPr/>
        </p:nvSpPr>
        <p:spPr>
          <a:xfrm>
            <a:off x="822960" y="3337560"/>
            <a:ext cx="548640" cy="548640"/>
          </a:xfrm>
          <a:prstGeom prst="ellipse">
            <a:avLst/>
          </a:prstGeom>
          <a:solidFill>
            <a:srgbClr val="1F3D2C"/>
          </a:solidFill>
          <a:ln/>
        </p:spPr>
        <p:txBody>
          <a:bodyPr/>
          <a:lstStyle/>
          <a:p>
            <a:endParaRPr lang="en-US"/>
          </a:p>
        </p:txBody>
      </p:sp>
      <p:pic>
        <p:nvPicPr>
          <p:cNvPr id="11" name="Image 1" descr="/home/claude/proj/icons/chartline_white.png"/>
          <p:cNvPicPr>
            <a:picLocks noChangeAspect="1"/>
          </p:cNvPicPr>
          <p:nvPr/>
        </p:nvPicPr>
        <p:blipFill>
          <a:blip r:embed="rId4"/>
          <a:stretch>
            <a:fillRect/>
          </a:stretch>
        </p:blipFill>
        <p:spPr>
          <a:xfrm>
            <a:off x="888797" y="3403397"/>
            <a:ext cx="416966" cy="416966"/>
          </a:xfrm>
          <a:prstGeom prst="rect">
            <a:avLst/>
          </a:prstGeom>
        </p:spPr>
      </p:pic>
      <p:sp>
        <p:nvSpPr>
          <p:cNvPr id="12" name="Text 8"/>
          <p:cNvSpPr/>
          <p:nvPr/>
        </p:nvSpPr>
        <p:spPr>
          <a:xfrm>
            <a:off x="1508760" y="3319272"/>
            <a:ext cx="4892040" cy="365760"/>
          </a:xfrm>
          <a:prstGeom prst="rect">
            <a:avLst/>
          </a:prstGeom>
          <a:noFill/>
          <a:ln/>
        </p:spPr>
        <p:txBody>
          <a:bodyPr wrap="square" rtlCol="0" anchor="ctr"/>
          <a:lstStyle/>
          <a:p>
            <a:pPr marL="0" indent="0">
              <a:buNone/>
            </a:pPr>
            <a:r>
              <a:rPr lang="en-US" sz="1350" b="1" dirty="0">
                <a:solidFill>
                  <a:srgbClr val="1A2E22"/>
                </a:solidFill>
                <a:latin typeface="Calibri" pitchFamily="34" charset="0"/>
                <a:ea typeface="Calibri" pitchFamily="34" charset="-122"/>
                <a:cs typeface="Calibri" pitchFamily="34" charset="-120"/>
              </a:rPr>
              <a:t>Two Outputs</a:t>
            </a:r>
            <a:endParaRPr lang="en-US" sz="1350" dirty="0"/>
          </a:p>
        </p:txBody>
      </p:sp>
      <p:sp>
        <p:nvSpPr>
          <p:cNvPr id="13" name="Text 9"/>
          <p:cNvSpPr/>
          <p:nvPr/>
        </p:nvSpPr>
        <p:spPr>
          <a:xfrm>
            <a:off x="1508760" y="3666744"/>
            <a:ext cx="4892040" cy="868680"/>
          </a:xfrm>
          <a:prstGeom prst="rect">
            <a:avLst/>
          </a:prstGeom>
          <a:noFill/>
          <a:ln/>
        </p:spPr>
        <p:txBody>
          <a:bodyPr wrap="square" rtlCol="0" anchor="ctr"/>
          <a:lstStyle/>
          <a:p>
            <a:pPr marL="0" indent="0">
              <a:lnSpc>
                <a:spcPct val="120000"/>
              </a:lnSpc>
              <a:buNone/>
            </a:pPr>
            <a:r>
              <a:rPr lang="en-US" sz="1150" dirty="0">
                <a:solidFill>
                  <a:srgbClr val="5B6B60"/>
                </a:solidFill>
                <a:latin typeface="Calibri" pitchFamily="34" charset="0"/>
                <a:ea typeface="Calibri" pitchFamily="34" charset="-122"/>
                <a:cs typeface="Calibri" pitchFamily="34" charset="-120"/>
              </a:rPr>
              <a:t>A numeric expected yield plus an easy-to-read category: Low, Medium or High.</a:t>
            </a:r>
            <a:endParaRPr lang="en-US" sz="1150" dirty="0"/>
          </a:p>
        </p:txBody>
      </p:sp>
      <p:sp>
        <p:nvSpPr>
          <p:cNvPr id="14" name="Shape 10"/>
          <p:cNvSpPr/>
          <p:nvPr/>
        </p:nvSpPr>
        <p:spPr>
          <a:xfrm>
            <a:off x="822960" y="4709160"/>
            <a:ext cx="548640" cy="548640"/>
          </a:xfrm>
          <a:prstGeom prst="ellipse">
            <a:avLst/>
          </a:prstGeom>
          <a:solidFill>
            <a:srgbClr val="1F3D2C"/>
          </a:solidFill>
          <a:ln/>
        </p:spPr>
        <p:txBody>
          <a:bodyPr/>
          <a:lstStyle/>
          <a:p>
            <a:endParaRPr lang="en-US"/>
          </a:p>
        </p:txBody>
      </p:sp>
      <p:pic>
        <p:nvPicPr>
          <p:cNvPr id="15" name="Image 2" descr="/home/claude/proj/icons/robot_white.png"/>
          <p:cNvPicPr>
            <a:picLocks noChangeAspect="1"/>
          </p:cNvPicPr>
          <p:nvPr/>
        </p:nvPicPr>
        <p:blipFill>
          <a:blip r:embed="rId5"/>
          <a:stretch>
            <a:fillRect/>
          </a:stretch>
        </p:blipFill>
        <p:spPr>
          <a:xfrm>
            <a:off x="888797" y="4774997"/>
            <a:ext cx="416966" cy="416966"/>
          </a:xfrm>
          <a:prstGeom prst="rect">
            <a:avLst/>
          </a:prstGeom>
        </p:spPr>
      </p:pic>
      <p:sp>
        <p:nvSpPr>
          <p:cNvPr id="16" name="Text 11"/>
          <p:cNvSpPr/>
          <p:nvPr/>
        </p:nvSpPr>
        <p:spPr>
          <a:xfrm>
            <a:off x="1508760" y="4690872"/>
            <a:ext cx="4892040" cy="365760"/>
          </a:xfrm>
          <a:prstGeom prst="rect">
            <a:avLst/>
          </a:prstGeom>
          <a:noFill/>
          <a:ln/>
        </p:spPr>
        <p:txBody>
          <a:bodyPr wrap="square" rtlCol="0" anchor="ctr"/>
          <a:lstStyle/>
          <a:p>
            <a:pPr marL="0" indent="0">
              <a:buNone/>
            </a:pPr>
            <a:r>
              <a:rPr lang="en-US" sz="1350" b="1" dirty="0">
                <a:solidFill>
                  <a:srgbClr val="1A2E22"/>
                </a:solidFill>
                <a:latin typeface="Calibri" pitchFamily="34" charset="0"/>
                <a:ea typeface="Calibri" pitchFamily="34" charset="-122"/>
                <a:cs typeface="Calibri" pitchFamily="34" charset="-120"/>
              </a:rPr>
              <a:t>Notebook to Backend</a:t>
            </a:r>
            <a:endParaRPr lang="en-US" sz="1350" dirty="0"/>
          </a:p>
        </p:txBody>
      </p:sp>
      <p:sp>
        <p:nvSpPr>
          <p:cNvPr id="17" name="Text 12"/>
          <p:cNvSpPr/>
          <p:nvPr/>
        </p:nvSpPr>
        <p:spPr>
          <a:xfrm>
            <a:off x="1508760" y="5038344"/>
            <a:ext cx="4892040" cy="868680"/>
          </a:xfrm>
          <a:prstGeom prst="rect">
            <a:avLst/>
          </a:prstGeom>
          <a:noFill/>
          <a:ln/>
        </p:spPr>
        <p:txBody>
          <a:bodyPr wrap="square" rtlCol="0" anchor="ctr"/>
          <a:lstStyle/>
          <a:p>
            <a:pPr marL="0" indent="0">
              <a:lnSpc>
                <a:spcPct val="120000"/>
              </a:lnSpc>
              <a:buNone/>
            </a:pPr>
            <a:r>
              <a:rPr lang="en-US" sz="1150" dirty="0">
                <a:solidFill>
                  <a:srgbClr val="5B6B60"/>
                </a:solidFill>
                <a:latin typeface="Calibri" pitchFamily="34" charset="0"/>
                <a:ea typeface="Calibri" pitchFamily="34" charset="-122"/>
                <a:cs typeface="Calibri" pitchFamily="34" charset="-120"/>
              </a:rPr>
              <a:t>The full pipeline — cleaning, EDA, model training — lives in one notebook, then serves predictions through a backend API.</a:t>
            </a:r>
            <a:endParaRPr lang="en-US" sz="1150" dirty="0"/>
          </a:p>
        </p:txBody>
      </p:sp>
      <p:sp>
        <p:nvSpPr>
          <p:cNvPr id="18" name="Shape 13"/>
          <p:cNvSpPr/>
          <p:nvPr/>
        </p:nvSpPr>
        <p:spPr>
          <a:xfrm>
            <a:off x="6858000" y="1691640"/>
            <a:ext cx="4782312" cy="4434840"/>
          </a:xfrm>
          <a:prstGeom prst="roundRect">
            <a:avLst>
              <a:gd name="adj" fmla="val 1649"/>
            </a:avLst>
          </a:prstGeom>
          <a:solidFill>
            <a:srgbClr val="FFFFFF"/>
          </a:solidFill>
          <a:ln w="19050">
            <a:solidFill>
              <a:srgbClr val="DCE4D6"/>
            </a:solidFill>
            <a:prstDash val="solid"/>
          </a:ln>
        </p:spPr>
        <p:txBody>
          <a:bodyPr/>
          <a:lstStyle/>
          <a:p>
            <a:endParaRPr lang="en-US"/>
          </a:p>
        </p:txBody>
      </p:sp>
      <p:pic>
        <p:nvPicPr>
          <p:cNvPr id="19" name="Image 3" descr="/home/claude/proj/assets/github_repo.png"/>
          <p:cNvPicPr>
            <a:picLocks noChangeAspect="1"/>
          </p:cNvPicPr>
          <p:nvPr/>
        </p:nvPicPr>
        <p:blipFill>
          <a:blip r:embed="rId6"/>
          <a:stretch>
            <a:fillRect/>
          </a:stretch>
        </p:blipFill>
        <p:spPr>
          <a:xfrm>
            <a:off x="6995160" y="1810512"/>
            <a:ext cx="4507992" cy="4206240"/>
          </a:xfrm>
          <a:prstGeom prst="rect">
            <a:avLst/>
          </a:prstGeom>
        </p:spPr>
      </p:pic>
      <p:sp>
        <p:nvSpPr>
          <p:cNvPr id="20" name="Text 14"/>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21" name="Text 15"/>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A1E"/>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STEP 5 · DEPLOYMENT</a:t>
            </a:r>
            <a:endParaRPr lang="en-US" sz="1200" dirty="0"/>
          </a:p>
        </p:txBody>
      </p:sp>
      <p:sp>
        <p:nvSpPr>
          <p:cNvPr id="3" name="Text 1"/>
          <p:cNvSpPr/>
          <p:nvPr/>
        </p:nvSpPr>
        <p:spPr>
          <a:xfrm>
            <a:off x="548640" y="658368"/>
            <a:ext cx="109728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Model to Mobile App &amp; Web</a:t>
            </a:r>
            <a:endParaRPr lang="en-US" sz="2800" dirty="0"/>
          </a:p>
        </p:txBody>
      </p:sp>
      <p:sp>
        <p:nvSpPr>
          <p:cNvPr id="4" name="Text 2"/>
          <p:cNvSpPr/>
          <p:nvPr/>
        </p:nvSpPr>
        <p:spPr>
          <a:xfrm>
            <a:off x="548640" y="1170432"/>
            <a:ext cx="10789920" cy="365760"/>
          </a:xfrm>
          <a:prstGeom prst="rect">
            <a:avLst/>
          </a:prstGeom>
          <a:noFill/>
          <a:ln/>
        </p:spPr>
        <p:txBody>
          <a:bodyPr wrap="square" rtlCol="0" anchor="ctr"/>
          <a:lstStyle/>
          <a:p>
            <a:pPr marL="0" indent="0">
              <a:buNone/>
            </a:pPr>
            <a:r>
              <a:rPr lang="en-US" sz="1250" i="1" dirty="0">
                <a:solidFill>
                  <a:srgbClr val="E7F0DE"/>
                </a:solidFill>
                <a:latin typeface="Calibri" pitchFamily="34" charset="0"/>
                <a:ea typeface="Calibri" pitchFamily="34" charset="-122"/>
                <a:cs typeface="Calibri" pitchFamily="34" charset="-120"/>
              </a:rPr>
              <a:t>The Random Forest model is deployed two ways: a Flutter mobile app and a Streamlit web app.</a:t>
            </a:r>
            <a:endParaRPr lang="en-US" sz="1250" dirty="0"/>
          </a:p>
        </p:txBody>
      </p:sp>
      <p:pic>
        <p:nvPicPr>
          <p:cNvPr id="5" name="Image 0" descr="/home/claude/proj/assets/app_splash_trim.png"/>
          <p:cNvPicPr>
            <a:picLocks noChangeAspect="1"/>
          </p:cNvPicPr>
          <p:nvPr/>
        </p:nvPicPr>
        <p:blipFill>
          <a:blip r:embed="rId3"/>
          <a:stretch>
            <a:fillRect/>
          </a:stretch>
        </p:blipFill>
        <p:spPr>
          <a:xfrm>
            <a:off x="1956816" y="1783080"/>
            <a:ext cx="1691640" cy="3617984"/>
          </a:xfrm>
          <a:prstGeom prst="rect">
            <a:avLst/>
          </a:prstGeom>
        </p:spPr>
      </p:pic>
      <p:sp>
        <p:nvSpPr>
          <p:cNvPr id="6" name="Text 3"/>
          <p:cNvSpPr/>
          <p:nvPr/>
        </p:nvSpPr>
        <p:spPr>
          <a:xfrm>
            <a:off x="1956816" y="5510792"/>
            <a:ext cx="1691640" cy="320040"/>
          </a:xfrm>
          <a:prstGeom prst="rect">
            <a:avLst/>
          </a:prstGeom>
          <a:noFill/>
          <a:ln/>
        </p:spPr>
        <p:txBody>
          <a:bodyPr wrap="square" rtlCol="0" anchor="ctr"/>
          <a:lstStyle/>
          <a:p>
            <a:pPr marL="0" indent="0" algn="ctr">
              <a:buNone/>
            </a:pPr>
            <a:r>
              <a:rPr lang="en-US" sz="1150" b="1" dirty="0">
                <a:solidFill>
                  <a:srgbClr val="D9A441"/>
                </a:solidFill>
                <a:latin typeface="Calibri" pitchFamily="34" charset="0"/>
                <a:ea typeface="Calibri" pitchFamily="34" charset="-122"/>
                <a:cs typeface="Calibri" pitchFamily="34" charset="-120"/>
              </a:rPr>
              <a:t>1. Launch</a:t>
            </a:r>
            <a:endParaRPr lang="en-US" sz="1150" dirty="0"/>
          </a:p>
        </p:txBody>
      </p:sp>
      <p:pic>
        <p:nvPicPr>
          <p:cNvPr id="7" name="Image 1" descr="/home/claude/proj/assets/app_statepicker_trim.png"/>
          <p:cNvPicPr>
            <a:picLocks noChangeAspect="1"/>
          </p:cNvPicPr>
          <p:nvPr/>
        </p:nvPicPr>
        <p:blipFill>
          <a:blip r:embed="rId4"/>
          <a:stretch>
            <a:fillRect/>
          </a:stretch>
        </p:blipFill>
        <p:spPr>
          <a:xfrm>
            <a:off x="4151376" y="1783080"/>
            <a:ext cx="1691640" cy="3617984"/>
          </a:xfrm>
          <a:prstGeom prst="rect">
            <a:avLst/>
          </a:prstGeom>
        </p:spPr>
      </p:pic>
      <p:sp>
        <p:nvSpPr>
          <p:cNvPr id="8" name="Text 4"/>
          <p:cNvSpPr/>
          <p:nvPr/>
        </p:nvSpPr>
        <p:spPr>
          <a:xfrm>
            <a:off x="4151376" y="5510792"/>
            <a:ext cx="1691640" cy="320040"/>
          </a:xfrm>
          <a:prstGeom prst="rect">
            <a:avLst/>
          </a:prstGeom>
          <a:noFill/>
          <a:ln/>
        </p:spPr>
        <p:txBody>
          <a:bodyPr wrap="square" rtlCol="0" anchor="ctr"/>
          <a:lstStyle/>
          <a:p>
            <a:pPr marL="0" indent="0" algn="ctr">
              <a:buNone/>
            </a:pPr>
            <a:r>
              <a:rPr lang="en-US" sz="1150" b="1" dirty="0">
                <a:solidFill>
                  <a:srgbClr val="D9A441"/>
                </a:solidFill>
                <a:latin typeface="Calibri" pitchFamily="34" charset="0"/>
                <a:ea typeface="Calibri" pitchFamily="34" charset="-122"/>
                <a:cs typeface="Calibri" pitchFamily="34" charset="-120"/>
              </a:rPr>
              <a:t>2. Select State</a:t>
            </a:r>
            <a:endParaRPr lang="en-US" sz="1150" dirty="0"/>
          </a:p>
        </p:txBody>
      </p:sp>
      <p:pic>
        <p:nvPicPr>
          <p:cNvPr id="9" name="Image 2" descr="/home/claude/proj/assets/app_croplib_trim.png"/>
          <p:cNvPicPr>
            <a:picLocks noChangeAspect="1"/>
          </p:cNvPicPr>
          <p:nvPr/>
        </p:nvPicPr>
        <p:blipFill>
          <a:blip r:embed="rId5"/>
          <a:stretch>
            <a:fillRect/>
          </a:stretch>
        </p:blipFill>
        <p:spPr>
          <a:xfrm>
            <a:off x="6345936" y="1783080"/>
            <a:ext cx="1691640" cy="3617984"/>
          </a:xfrm>
          <a:prstGeom prst="rect">
            <a:avLst/>
          </a:prstGeom>
        </p:spPr>
      </p:pic>
      <p:sp>
        <p:nvSpPr>
          <p:cNvPr id="10" name="Text 5"/>
          <p:cNvSpPr/>
          <p:nvPr/>
        </p:nvSpPr>
        <p:spPr>
          <a:xfrm>
            <a:off x="6345936" y="5510792"/>
            <a:ext cx="1691640" cy="320040"/>
          </a:xfrm>
          <a:prstGeom prst="rect">
            <a:avLst/>
          </a:prstGeom>
          <a:noFill/>
          <a:ln/>
        </p:spPr>
        <p:txBody>
          <a:bodyPr wrap="square" rtlCol="0" anchor="ctr"/>
          <a:lstStyle/>
          <a:p>
            <a:pPr marL="0" indent="0" algn="ctr">
              <a:buNone/>
            </a:pPr>
            <a:r>
              <a:rPr lang="en-US" sz="1150" b="1" dirty="0">
                <a:solidFill>
                  <a:srgbClr val="D9A441"/>
                </a:solidFill>
                <a:latin typeface="Calibri" pitchFamily="34" charset="0"/>
                <a:ea typeface="Calibri" pitchFamily="34" charset="-122"/>
                <a:cs typeface="Calibri" pitchFamily="34" charset="-120"/>
              </a:rPr>
              <a:t>3. Browse Crops</a:t>
            </a:r>
            <a:endParaRPr lang="en-US" sz="1150" dirty="0"/>
          </a:p>
        </p:txBody>
      </p:sp>
      <p:pic>
        <p:nvPicPr>
          <p:cNvPr id="11" name="Image 3" descr="/home/claude/proj/assets/app_insights_trim.png"/>
          <p:cNvPicPr>
            <a:picLocks noChangeAspect="1"/>
          </p:cNvPicPr>
          <p:nvPr/>
        </p:nvPicPr>
        <p:blipFill>
          <a:blip r:embed="rId6"/>
          <a:stretch>
            <a:fillRect/>
          </a:stretch>
        </p:blipFill>
        <p:spPr>
          <a:xfrm>
            <a:off x="8540496" y="1783080"/>
            <a:ext cx="1691640" cy="3617984"/>
          </a:xfrm>
          <a:prstGeom prst="rect">
            <a:avLst/>
          </a:prstGeom>
        </p:spPr>
      </p:pic>
      <p:sp>
        <p:nvSpPr>
          <p:cNvPr id="12" name="Text 6"/>
          <p:cNvSpPr/>
          <p:nvPr/>
        </p:nvSpPr>
        <p:spPr>
          <a:xfrm>
            <a:off x="8540496" y="5510792"/>
            <a:ext cx="1691640" cy="320040"/>
          </a:xfrm>
          <a:prstGeom prst="rect">
            <a:avLst/>
          </a:prstGeom>
          <a:noFill/>
          <a:ln/>
        </p:spPr>
        <p:txBody>
          <a:bodyPr wrap="square" rtlCol="0" anchor="ctr"/>
          <a:lstStyle/>
          <a:p>
            <a:pPr marL="0" indent="0" algn="ctr">
              <a:buNone/>
            </a:pPr>
            <a:r>
              <a:rPr lang="en-US" sz="1150" b="1" dirty="0">
                <a:solidFill>
                  <a:srgbClr val="D9A441"/>
                </a:solidFill>
                <a:latin typeface="Calibri" pitchFamily="34" charset="0"/>
                <a:ea typeface="Calibri" pitchFamily="34" charset="-122"/>
                <a:cs typeface="Calibri" pitchFamily="34" charset="-120"/>
              </a:rPr>
              <a:t>4. Get Prediction</a:t>
            </a:r>
            <a:endParaRPr lang="en-US" sz="1150" dirty="0"/>
          </a:p>
        </p:txBody>
      </p:sp>
      <p:sp>
        <p:nvSpPr>
          <p:cNvPr id="13" name="Text 7"/>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14" name="Text 8"/>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200" b="1" kern="0" spc="200" dirty="0">
                <a:solidFill>
                  <a:srgbClr val="7FA65C"/>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749808"/>
            <a:ext cx="10972800" cy="640080"/>
          </a:xfrm>
          <a:prstGeom prst="rect">
            <a:avLst/>
          </a:prstGeom>
          <a:noFill/>
          <a:ln/>
        </p:spPr>
        <p:txBody>
          <a:bodyPr wrap="square" rtlCol="0" anchor="ctr"/>
          <a:lstStyle/>
          <a:p>
            <a:pPr marL="0" indent="0">
              <a:buNone/>
            </a:pPr>
            <a:r>
              <a:rPr lang="en-US" sz="3200" b="1" dirty="0">
                <a:solidFill>
                  <a:srgbClr val="1A2E22"/>
                </a:solidFill>
                <a:latin typeface="Cambria" pitchFamily="34" charset="0"/>
                <a:ea typeface="Cambria" pitchFamily="34" charset="-122"/>
                <a:cs typeface="Cambria" pitchFamily="34" charset="-120"/>
              </a:rPr>
              <a:t>What We Recommend, Concretely</a:t>
            </a:r>
            <a:endParaRPr lang="en-US" sz="3200" dirty="0"/>
          </a:p>
        </p:txBody>
      </p:sp>
      <p:sp>
        <p:nvSpPr>
          <p:cNvPr id="4" name="Text 2"/>
          <p:cNvSpPr/>
          <p:nvPr/>
        </p:nvSpPr>
        <p:spPr>
          <a:xfrm>
            <a:off x="548640" y="1353312"/>
            <a:ext cx="10789920" cy="365760"/>
          </a:xfrm>
          <a:prstGeom prst="rect">
            <a:avLst/>
          </a:prstGeom>
          <a:noFill/>
          <a:ln/>
        </p:spPr>
        <p:txBody>
          <a:bodyPr wrap="square" rtlCol="0" anchor="ctr"/>
          <a:lstStyle/>
          <a:p>
            <a:pPr marL="0" indent="0">
              <a:buNone/>
            </a:pPr>
            <a:r>
              <a:rPr lang="en-US" sz="1250" i="1" dirty="0">
                <a:solidFill>
                  <a:srgbClr val="5B6B60"/>
                </a:solidFill>
                <a:latin typeface="Calibri" pitchFamily="34" charset="0"/>
                <a:ea typeface="Calibri" pitchFamily="34" charset="-122"/>
                <a:cs typeface="Calibri" pitchFamily="34" charset="-120"/>
              </a:rPr>
              <a:t>Led by Menna Waleed Abdulrahman — turning insights into next steps.</a:t>
            </a:r>
            <a:endParaRPr lang="en-US" sz="1250" dirty="0"/>
          </a:p>
        </p:txBody>
      </p:sp>
      <p:sp>
        <p:nvSpPr>
          <p:cNvPr id="5" name="Shape 3"/>
          <p:cNvSpPr/>
          <p:nvPr/>
        </p:nvSpPr>
        <p:spPr>
          <a:xfrm>
            <a:off x="548640" y="1920240"/>
            <a:ext cx="3520440" cy="3794760"/>
          </a:xfrm>
          <a:prstGeom prst="roundRect">
            <a:avLst>
              <a:gd name="adj" fmla="val 2597"/>
            </a:avLst>
          </a:prstGeom>
          <a:solidFill>
            <a:srgbClr val="1F3D2C"/>
          </a:solidFill>
          <a:ln/>
        </p:spPr>
        <p:txBody>
          <a:bodyPr/>
          <a:lstStyle/>
          <a:p>
            <a:endParaRPr lang="en-US"/>
          </a:p>
        </p:txBody>
      </p:sp>
      <p:sp>
        <p:nvSpPr>
          <p:cNvPr id="6" name="Shape 4"/>
          <p:cNvSpPr/>
          <p:nvPr/>
        </p:nvSpPr>
        <p:spPr>
          <a:xfrm>
            <a:off x="822960" y="2194560"/>
            <a:ext cx="594360" cy="594360"/>
          </a:xfrm>
          <a:prstGeom prst="ellipse">
            <a:avLst/>
          </a:prstGeom>
          <a:solidFill>
            <a:srgbClr val="D9A441"/>
          </a:solidFill>
          <a:ln/>
        </p:spPr>
        <p:txBody>
          <a:bodyPr/>
          <a:lstStyle/>
          <a:p>
            <a:endParaRPr lang="en-US"/>
          </a:p>
        </p:txBody>
      </p:sp>
      <p:pic>
        <p:nvPicPr>
          <p:cNvPr id="7" name="Image 0" descr="/home/claude/proj/icons/seedling_white.png"/>
          <p:cNvPicPr>
            <a:picLocks noChangeAspect="1"/>
          </p:cNvPicPr>
          <p:nvPr/>
        </p:nvPicPr>
        <p:blipFill>
          <a:blip r:embed="rId3"/>
          <a:stretch>
            <a:fillRect/>
          </a:stretch>
        </p:blipFill>
        <p:spPr>
          <a:xfrm>
            <a:off x="894283" y="2265883"/>
            <a:ext cx="451714" cy="451714"/>
          </a:xfrm>
          <a:prstGeom prst="rect">
            <a:avLst/>
          </a:prstGeom>
        </p:spPr>
      </p:pic>
      <p:sp>
        <p:nvSpPr>
          <p:cNvPr id="8" name="Text 5"/>
          <p:cNvSpPr/>
          <p:nvPr/>
        </p:nvSpPr>
        <p:spPr>
          <a:xfrm>
            <a:off x="822960" y="2926080"/>
            <a:ext cx="2971800" cy="6858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Expand Strategic Crops</a:t>
            </a:r>
            <a:endParaRPr lang="en-US" sz="1450" dirty="0"/>
          </a:p>
        </p:txBody>
      </p:sp>
      <p:sp>
        <p:nvSpPr>
          <p:cNvPr id="9" name="Text 6"/>
          <p:cNvSpPr/>
          <p:nvPr/>
        </p:nvSpPr>
        <p:spPr>
          <a:xfrm>
            <a:off x="822960" y="3611880"/>
            <a:ext cx="2971800" cy="1965960"/>
          </a:xfrm>
          <a:prstGeom prst="rect">
            <a:avLst/>
          </a:prstGeom>
          <a:noFill/>
          <a:ln/>
        </p:spPr>
        <p:txBody>
          <a:bodyPr wrap="square" rtlCol="0" anchor="ctr"/>
          <a:lstStyle/>
          <a:p>
            <a:pPr marL="0" indent="0">
              <a:lnSpc>
                <a:spcPct val="125000"/>
              </a:lnSpc>
              <a:buNone/>
            </a:pPr>
            <a:r>
              <a:rPr lang="en-US" sz="1200" dirty="0">
                <a:solidFill>
                  <a:srgbClr val="E7F0DE"/>
                </a:solidFill>
                <a:latin typeface="Calibri" pitchFamily="34" charset="0"/>
                <a:ea typeface="Calibri" pitchFamily="34" charset="-122"/>
                <a:cs typeface="Calibri" pitchFamily="34" charset="-120"/>
              </a:rPr>
              <a:t>Prioritize Sugarcane and Rice in Maharashtra and neighboring states, where they already lead in production and reliability.</a:t>
            </a:r>
            <a:endParaRPr lang="en-US" sz="1200" dirty="0"/>
          </a:p>
        </p:txBody>
      </p:sp>
      <p:sp>
        <p:nvSpPr>
          <p:cNvPr id="10" name="Shape 7"/>
          <p:cNvSpPr/>
          <p:nvPr/>
        </p:nvSpPr>
        <p:spPr>
          <a:xfrm>
            <a:off x="4343400" y="1920240"/>
            <a:ext cx="3520440" cy="3794760"/>
          </a:xfrm>
          <a:prstGeom prst="roundRect">
            <a:avLst>
              <a:gd name="adj" fmla="val 2597"/>
            </a:avLst>
          </a:prstGeom>
          <a:solidFill>
            <a:srgbClr val="1F3D2C"/>
          </a:solidFill>
          <a:ln/>
        </p:spPr>
        <p:txBody>
          <a:bodyPr/>
          <a:lstStyle/>
          <a:p>
            <a:endParaRPr lang="en-US"/>
          </a:p>
        </p:txBody>
      </p:sp>
      <p:sp>
        <p:nvSpPr>
          <p:cNvPr id="11" name="Shape 8"/>
          <p:cNvSpPr/>
          <p:nvPr/>
        </p:nvSpPr>
        <p:spPr>
          <a:xfrm>
            <a:off x="4617720" y="2194560"/>
            <a:ext cx="594360" cy="594360"/>
          </a:xfrm>
          <a:prstGeom prst="ellipse">
            <a:avLst/>
          </a:prstGeom>
          <a:solidFill>
            <a:srgbClr val="D9A441"/>
          </a:solidFill>
          <a:ln/>
        </p:spPr>
        <p:txBody>
          <a:bodyPr/>
          <a:lstStyle/>
          <a:p>
            <a:endParaRPr lang="en-US"/>
          </a:p>
        </p:txBody>
      </p:sp>
      <p:pic>
        <p:nvPicPr>
          <p:cNvPr id="12" name="Image 1" descr="/home/claude/proj/icons/cloudrain_white.png"/>
          <p:cNvPicPr>
            <a:picLocks noChangeAspect="1"/>
          </p:cNvPicPr>
          <p:nvPr/>
        </p:nvPicPr>
        <p:blipFill>
          <a:blip r:embed="rId4"/>
          <a:stretch>
            <a:fillRect/>
          </a:stretch>
        </p:blipFill>
        <p:spPr>
          <a:xfrm>
            <a:off x="4689043" y="2265883"/>
            <a:ext cx="451714" cy="451714"/>
          </a:xfrm>
          <a:prstGeom prst="rect">
            <a:avLst/>
          </a:prstGeom>
        </p:spPr>
      </p:pic>
      <p:sp>
        <p:nvSpPr>
          <p:cNvPr id="13" name="Text 9"/>
          <p:cNvSpPr/>
          <p:nvPr/>
        </p:nvSpPr>
        <p:spPr>
          <a:xfrm>
            <a:off x="4617720" y="2926080"/>
            <a:ext cx="2971800" cy="6858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Plan Around Rainfall &amp; Temperature</a:t>
            </a:r>
            <a:endParaRPr lang="en-US" sz="1450" dirty="0"/>
          </a:p>
        </p:txBody>
      </p:sp>
      <p:sp>
        <p:nvSpPr>
          <p:cNvPr id="14" name="Text 10"/>
          <p:cNvSpPr/>
          <p:nvPr/>
        </p:nvSpPr>
        <p:spPr>
          <a:xfrm>
            <a:off x="4617720" y="3611880"/>
            <a:ext cx="2971800" cy="1965960"/>
          </a:xfrm>
          <a:prstGeom prst="rect">
            <a:avLst/>
          </a:prstGeom>
          <a:noFill/>
          <a:ln/>
        </p:spPr>
        <p:txBody>
          <a:bodyPr wrap="square" rtlCol="0" anchor="ctr"/>
          <a:lstStyle/>
          <a:p>
            <a:pPr marL="0" indent="0">
              <a:lnSpc>
                <a:spcPct val="125000"/>
              </a:lnSpc>
              <a:buNone/>
            </a:pPr>
            <a:r>
              <a:rPr lang="en-US" sz="1200" dirty="0">
                <a:solidFill>
                  <a:srgbClr val="E7F0DE"/>
                </a:solidFill>
                <a:latin typeface="Calibri" pitchFamily="34" charset="0"/>
                <a:ea typeface="Calibri" pitchFamily="34" charset="-122"/>
                <a:cs typeface="Calibri" pitchFamily="34" charset="-120"/>
              </a:rPr>
              <a:t>Avoid non-flood-tolerant crops beyond the ~2,000–2,500mm rainfall threshold, and target the 20-25°C optimal window for new investment.</a:t>
            </a:r>
            <a:endParaRPr lang="en-US" sz="1200" dirty="0"/>
          </a:p>
        </p:txBody>
      </p:sp>
      <p:sp>
        <p:nvSpPr>
          <p:cNvPr id="15" name="Shape 11"/>
          <p:cNvSpPr/>
          <p:nvPr/>
        </p:nvSpPr>
        <p:spPr>
          <a:xfrm>
            <a:off x="8138160" y="1920240"/>
            <a:ext cx="3520440" cy="3794760"/>
          </a:xfrm>
          <a:prstGeom prst="roundRect">
            <a:avLst>
              <a:gd name="adj" fmla="val 2597"/>
            </a:avLst>
          </a:prstGeom>
          <a:solidFill>
            <a:srgbClr val="1F3D2C"/>
          </a:solidFill>
          <a:ln/>
        </p:spPr>
        <p:txBody>
          <a:bodyPr/>
          <a:lstStyle/>
          <a:p>
            <a:endParaRPr lang="en-US"/>
          </a:p>
        </p:txBody>
      </p:sp>
      <p:sp>
        <p:nvSpPr>
          <p:cNvPr id="16" name="Shape 12"/>
          <p:cNvSpPr/>
          <p:nvPr/>
        </p:nvSpPr>
        <p:spPr>
          <a:xfrm>
            <a:off x="8412480" y="2194560"/>
            <a:ext cx="594360" cy="594360"/>
          </a:xfrm>
          <a:prstGeom prst="ellipse">
            <a:avLst/>
          </a:prstGeom>
          <a:solidFill>
            <a:srgbClr val="D9A441"/>
          </a:solidFill>
          <a:ln/>
        </p:spPr>
        <p:txBody>
          <a:bodyPr/>
          <a:lstStyle/>
          <a:p>
            <a:endParaRPr lang="en-US"/>
          </a:p>
        </p:txBody>
      </p:sp>
      <p:pic>
        <p:nvPicPr>
          <p:cNvPr id="17" name="Image 2" descr="/home/claude/proj/icons/lightbulb_white.png"/>
          <p:cNvPicPr>
            <a:picLocks noChangeAspect="1"/>
          </p:cNvPicPr>
          <p:nvPr/>
        </p:nvPicPr>
        <p:blipFill>
          <a:blip r:embed="rId5"/>
          <a:stretch>
            <a:fillRect/>
          </a:stretch>
        </p:blipFill>
        <p:spPr>
          <a:xfrm>
            <a:off x="8483803" y="2265883"/>
            <a:ext cx="451714" cy="451714"/>
          </a:xfrm>
          <a:prstGeom prst="rect">
            <a:avLst/>
          </a:prstGeom>
        </p:spPr>
      </p:pic>
      <p:sp>
        <p:nvSpPr>
          <p:cNvPr id="18" name="Text 13"/>
          <p:cNvSpPr/>
          <p:nvPr/>
        </p:nvSpPr>
        <p:spPr>
          <a:xfrm>
            <a:off x="8412480" y="2926080"/>
            <a:ext cx="2971800" cy="6858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Use AI to Cut Fertilizer Waste</a:t>
            </a:r>
            <a:endParaRPr lang="en-US" sz="1450" dirty="0"/>
          </a:p>
        </p:txBody>
      </p:sp>
      <p:sp>
        <p:nvSpPr>
          <p:cNvPr id="19" name="Text 14"/>
          <p:cNvSpPr/>
          <p:nvPr/>
        </p:nvSpPr>
        <p:spPr>
          <a:xfrm>
            <a:off x="8412480" y="3611880"/>
            <a:ext cx="2971800" cy="1965960"/>
          </a:xfrm>
          <a:prstGeom prst="rect">
            <a:avLst/>
          </a:prstGeom>
          <a:noFill/>
          <a:ln/>
        </p:spPr>
        <p:txBody>
          <a:bodyPr wrap="square" rtlCol="0" anchor="ctr"/>
          <a:lstStyle/>
          <a:p>
            <a:pPr marL="0" indent="0">
              <a:lnSpc>
                <a:spcPct val="125000"/>
              </a:lnSpc>
              <a:buNone/>
            </a:pPr>
            <a:r>
              <a:rPr lang="en-US" sz="1200" dirty="0">
                <a:solidFill>
                  <a:srgbClr val="E7F0DE"/>
                </a:solidFill>
                <a:latin typeface="Calibri" pitchFamily="34" charset="0"/>
                <a:ea typeface="Calibri" pitchFamily="34" charset="-122"/>
                <a:cs typeface="Calibri" pitchFamily="34" charset="-120"/>
              </a:rPr>
              <a:t>Deploy the Random Forest model to recommend precise fertilizer levels per field, addressing diminishing returns and reducing cost and soil impact.</a:t>
            </a:r>
            <a:endParaRPr lang="en-US" sz="1200" dirty="0"/>
          </a:p>
        </p:txBody>
      </p:sp>
      <p:sp>
        <p:nvSpPr>
          <p:cNvPr id="20" name="Text 15"/>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60"/>
                </a:solidFill>
                <a:latin typeface="Calibri" pitchFamily="34" charset="0"/>
                <a:ea typeface="Calibri" pitchFamily="34" charset="-122"/>
                <a:cs typeface="Calibri" pitchFamily="34" charset="-120"/>
              </a:rPr>
              <a:t>Smart Agriculture — NTI Graduation Project</a:t>
            </a:r>
            <a:endParaRPr lang="en-US" sz="900" dirty="0"/>
          </a:p>
        </p:txBody>
      </p:sp>
      <p:sp>
        <p:nvSpPr>
          <p:cNvPr id="21" name="Text 16"/>
          <p:cNvSpPr/>
          <p:nvPr/>
        </p:nvSpPr>
        <p:spPr>
          <a:xfrm>
            <a:off x="11457432" y="6528816"/>
            <a:ext cx="365760" cy="274320"/>
          </a:xfrm>
          <a:prstGeom prst="rect">
            <a:avLst/>
          </a:prstGeom>
          <a:noFill/>
          <a:ln/>
        </p:spPr>
        <p:txBody>
          <a:bodyPr wrap="square" rtlCol="0" anchor="ctr"/>
          <a:lstStyle/>
          <a:p>
            <a:pPr marL="0" indent="0" algn="r">
              <a:buNone/>
            </a:pPr>
            <a:r>
              <a:rPr lang="en-US" sz="900" dirty="0">
                <a:solidFill>
                  <a:srgbClr val="5B6B6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A1E"/>
        </a:solidFill>
        <a:effectLst/>
      </p:bgPr>
    </p:bg>
    <p:spTree>
      <p:nvGrpSpPr>
        <p:cNvPr id="1" name=""/>
        <p:cNvGrpSpPr/>
        <p:nvPr/>
      </p:nvGrpSpPr>
      <p:grpSpPr>
        <a:xfrm>
          <a:off x="0" y="0"/>
          <a:ext cx="0" cy="0"/>
          <a:chOff x="0" y="0"/>
          <a:chExt cx="0" cy="0"/>
        </a:xfrm>
      </p:grpSpPr>
      <p:sp>
        <p:nvSpPr>
          <p:cNvPr id="2" name="Shape 0"/>
          <p:cNvSpPr/>
          <p:nvPr/>
        </p:nvSpPr>
        <p:spPr>
          <a:xfrm>
            <a:off x="9966960" y="-1463040"/>
            <a:ext cx="4206240" cy="4206240"/>
          </a:xfrm>
          <a:prstGeom prst="ellipse">
            <a:avLst/>
          </a:prstGeom>
          <a:solidFill>
            <a:srgbClr val="1F3D2C"/>
          </a:solidFill>
          <a:ln/>
        </p:spPr>
        <p:txBody>
          <a:bodyPr/>
          <a:lstStyle/>
          <a:p>
            <a:endParaRPr lang="en-US"/>
          </a:p>
        </p:txBody>
      </p:sp>
      <p:sp>
        <p:nvSpPr>
          <p:cNvPr id="3" name="Shape 1"/>
          <p:cNvSpPr/>
          <p:nvPr/>
        </p:nvSpPr>
        <p:spPr>
          <a:xfrm>
            <a:off x="-1645920" y="5120640"/>
            <a:ext cx="3840480" cy="3840480"/>
          </a:xfrm>
          <a:prstGeom prst="ellipse">
            <a:avLst/>
          </a:prstGeom>
          <a:solidFill>
            <a:srgbClr val="1F3D2C"/>
          </a:solidFill>
          <a:ln/>
        </p:spPr>
        <p:txBody>
          <a:bodyPr/>
          <a:lstStyle/>
          <a:p>
            <a:endParaRPr lang="en-US"/>
          </a:p>
        </p:txBody>
      </p:sp>
      <p:sp>
        <p:nvSpPr>
          <p:cNvPr id="4" name="Shape 2"/>
          <p:cNvSpPr/>
          <p:nvPr/>
        </p:nvSpPr>
        <p:spPr>
          <a:xfrm>
            <a:off x="5545836" y="822960"/>
            <a:ext cx="1097280" cy="1097280"/>
          </a:xfrm>
          <a:prstGeom prst="ellipse">
            <a:avLst/>
          </a:prstGeom>
          <a:solidFill>
            <a:srgbClr val="7FA65C"/>
          </a:solidFill>
          <a:ln/>
        </p:spPr>
        <p:txBody>
          <a:bodyPr/>
          <a:lstStyle/>
          <a:p>
            <a:endParaRPr lang="en-US"/>
          </a:p>
        </p:txBody>
      </p:sp>
      <p:pic>
        <p:nvPicPr>
          <p:cNvPr id="5" name="Image 0" descr="/home/claude/proj/icons/leaf_white.png"/>
          <p:cNvPicPr>
            <a:picLocks noChangeAspect="1"/>
          </p:cNvPicPr>
          <p:nvPr/>
        </p:nvPicPr>
        <p:blipFill>
          <a:blip r:embed="rId3"/>
          <a:stretch>
            <a:fillRect/>
          </a:stretch>
        </p:blipFill>
        <p:spPr>
          <a:xfrm>
            <a:off x="5677510" y="954634"/>
            <a:ext cx="833933" cy="833933"/>
          </a:xfrm>
          <a:prstGeom prst="rect">
            <a:avLst/>
          </a:prstGeom>
        </p:spPr>
      </p:pic>
      <p:sp>
        <p:nvSpPr>
          <p:cNvPr id="6" name="Text 3"/>
          <p:cNvSpPr/>
          <p:nvPr/>
        </p:nvSpPr>
        <p:spPr>
          <a:xfrm>
            <a:off x="457200" y="2148840"/>
            <a:ext cx="11274552" cy="91440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7" name="Text 4"/>
          <p:cNvSpPr/>
          <p:nvPr/>
        </p:nvSpPr>
        <p:spPr>
          <a:xfrm>
            <a:off x="1097280" y="3154680"/>
            <a:ext cx="9994392" cy="548640"/>
          </a:xfrm>
          <a:prstGeom prst="rect">
            <a:avLst/>
          </a:prstGeom>
          <a:noFill/>
          <a:ln/>
        </p:spPr>
        <p:txBody>
          <a:bodyPr wrap="square" rtlCol="0" anchor="ctr"/>
          <a:lstStyle/>
          <a:p>
            <a:pPr marL="0" indent="0" algn="ctr">
              <a:buNone/>
            </a:pPr>
            <a:r>
              <a:rPr lang="en-US" sz="1500" i="1" dirty="0">
                <a:solidFill>
                  <a:srgbClr val="E7F0DE"/>
                </a:solidFill>
                <a:latin typeface="Calibri" pitchFamily="34" charset="0"/>
                <a:ea typeface="Calibri" pitchFamily="34" charset="-122"/>
                <a:cs typeface="Calibri" pitchFamily="34" charset="-120"/>
              </a:rPr>
              <a:t>From 19,572 raw records to a cleaned dataset, a data-driven story, and an AI tool people can actually use.</a:t>
            </a:r>
            <a:endParaRPr lang="en-US" sz="1500" dirty="0"/>
          </a:p>
        </p:txBody>
      </p:sp>
      <p:sp>
        <p:nvSpPr>
          <p:cNvPr id="8" name="Shape 5"/>
          <p:cNvSpPr/>
          <p:nvPr/>
        </p:nvSpPr>
        <p:spPr>
          <a:xfrm>
            <a:off x="699516" y="4114800"/>
            <a:ext cx="3383280" cy="685800"/>
          </a:xfrm>
          <a:prstGeom prst="roundRect">
            <a:avLst>
              <a:gd name="adj" fmla="val 10667"/>
            </a:avLst>
          </a:prstGeom>
          <a:solidFill>
            <a:srgbClr val="1F3D2C"/>
          </a:solidFill>
          <a:ln/>
        </p:spPr>
        <p:txBody>
          <a:bodyPr/>
          <a:lstStyle/>
          <a:p>
            <a:endParaRPr lang="en-US"/>
          </a:p>
        </p:txBody>
      </p:sp>
      <p:sp>
        <p:nvSpPr>
          <p:cNvPr id="9" name="Text 6"/>
          <p:cNvSpPr/>
          <p:nvPr/>
        </p:nvSpPr>
        <p:spPr>
          <a:xfrm>
            <a:off x="699516" y="4114800"/>
            <a:ext cx="338328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Fatma Mohamed Osman</a:t>
            </a:r>
            <a:endParaRPr lang="en-US" sz="1300" dirty="0"/>
          </a:p>
        </p:txBody>
      </p:sp>
      <p:sp>
        <p:nvSpPr>
          <p:cNvPr id="10" name="Shape 7"/>
          <p:cNvSpPr/>
          <p:nvPr/>
        </p:nvSpPr>
        <p:spPr>
          <a:xfrm>
            <a:off x="4402836" y="4114800"/>
            <a:ext cx="3383280" cy="685800"/>
          </a:xfrm>
          <a:prstGeom prst="roundRect">
            <a:avLst>
              <a:gd name="adj" fmla="val 10667"/>
            </a:avLst>
          </a:prstGeom>
          <a:solidFill>
            <a:srgbClr val="1F3D2C"/>
          </a:solidFill>
          <a:ln/>
        </p:spPr>
        <p:txBody>
          <a:bodyPr/>
          <a:lstStyle/>
          <a:p>
            <a:endParaRPr lang="en-US"/>
          </a:p>
        </p:txBody>
      </p:sp>
      <p:sp>
        <p:nvSpPr>
          <p:cNvPr id="11" name="Text 8"/>
          <p:cNvSpPr/>
          <p:nvPr/>
        </p:nvSpPr>
        <p:spPr>
          <a:xfrm>
            <a:off x="4402836" y="4114800"/>
            <a:ext cx="338328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Menna Waleed Abdulrahman</a:t>
            </a:r>
            <a:endParaRPr lang="en-US" sz="1300" dirty="0"/>
          </a:p>
        </p:txBody>
      </p:sp>
      <p:sp>
        <p:nvSpPr>
          <p:cNvPr id="12" name="Shape 9"/>
          <p:cNvSpPr/>
          <p:nvPr/>
        </p:nvSpPr>
        <p:spPr>
          <a:xfrm>
            <a:off x="8106156" y="4114800"/>
            <a:ext cx="3383280" cy="685800"/>
          </a:xfrm>
          <a:prstGeom prst="roundRect">
            <a:avLst>
              <a:gd name="adj" fmla="val 10667"/>
            </a:avLst>
          </a:prstGeom>
          <a:solidFill>
            <a:srgbClr val="1F3D2C"/>
          </a:solidFill>
          <a:ln/>
        </p:spPr>
        <p:txBody>
          <a:bodyPr/>
          <a:lstStyle/>
          <a:p>
            <a:endParaRPr lang="en-US"/>
          </a:p>
        </p:txBody>
      </p:sp>
      <p:sp>
        <p:nvSpPr>
          <p:cNvPr id="13" name="Text 10"/>
          <p:cNvSpPr/>
          <p:nvPr/>
        </p:nvSpPr>
        <p:spPr>
          <a:xfrm>
            <a:off x="8106156" y="4114800"/>
            <a:ext cx="338328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Fatma Hasan Abdulrazek</a:t>
            </a:r>
            <a:endParaRPr lang="en-US" sz="1300" dirty="0"/>
          </a:p>
        </p:txBody>
      </p:sp>
      <p:sp>
        <p:nvSpPr>
          <p:cNvPr id="14" name="Text 11"/>
          <p:cNvSpPr/>
          <p:nvPr/>
        </p:nvSpPr>
        <p:spPr>
          <a:xfrm>
            <a:off x="0" y="5120640"/>
            <a:ext cx="12188952" cy="365760"/>
          </a:xfrm>
          <a:prstGeom prst="rect">
            <a:avLst/>
          </a:prstGeom>
          <a:noFill/>
          <a:ln/>
        </p:spPr>
        <p:txBody>
          <a:bodyPr wrap="square" rtlCol="0" anchor="ctr"/>
          <a:lstStyle/>
          <a:p>
            <a:pPr marL="0" indent="0" algn="ctr">
              <a:buNone/>
            </a:pPr>
            <a:r>
              <a:rPr lang="en-US" sz="1200" dirty="0">
                <a:solidFill>
                  <a:srgbClr val="9FB79A"/>
                </a:solidFill>
                <a:latin typeface="Calibri" pitchFamily="34" charset="0"/>
                <a:ea typeface="Calibri" pitchFamily="34" charset="-122"/>
                <a:cs typeface="Calibri" pitchFamily="34" charset="-120"/>
              </a:rPr>
              <a:t>Supervised by Eng. Hager Ayman  •  NTI Advanced Data Analysis</a:t>
            </a:r>
            <a:endParaRPr lang="en-US" sz="1200" dirty="0"/>
          </a:p>
        </p:txBody>
      </p:sp>
      <p:sp>
        <p:nvSpPr>
          <p:cNvPr id="15" name="Text 12"/>
          <p:cNvSpPr/>
          <p:nvPr/>
        </p:nvSpPr>
        <p:spPr>
          <a:xfrm>
            <a:off x="0" y="5806440"/>
            <a:ext cx="12188952" cy="457200"/>
          </a:xfrm>
          <a:prstGeom prst="rect">
            <a:avLst/>
          </a:prstGeom>
          <a:noFill/>
          <a:ln/>
        </p:spPr>
        <p:txBody>
          <a:bodyPr wrap="square" rtlCol="0" anchor="ctr"/>
          <a:lstStyle/>
          <a:p>
            <a:pPr marL="0" indent="0" algn="ctr">
              <a:buNone/>
            </a:pPr>
            <a:r>
              <a:rPr lang="en-US" sz="2000" b="1" dirty="0">
                <a:solidFill>
                  <a:srgbClr val="D9A441"/>
                </a:solidFill>
                <a:latin typeface="Cambria" pitchFamily="34" charset="0"/>
                <a:ea typeface="Cambria" pitchFamily="34" charset="-122"/>
                <a:cs typeface="Cambria"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1743</Words>
  <Application>Microsoft Office PowerPoint</Application>
  <PresentationFormat>Widescreen</PresentationFormat>
  <Paragraphs>227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فاطمه حسن عبدالرازق حسن رضوان</cp:lastModifiedBy>
  <cp:revision>2</cp:revision>
  <dcterms:created xsi:type="dcterms:W3CDTF">2026-07-31T18:03:23Z</dcterms:created>
  <dcterms:modified xsi:type="dcterms:W3CDTF">2026-07-31T21:28:06Z</dcterms:modified>
</cp:coreProperties>
</file>